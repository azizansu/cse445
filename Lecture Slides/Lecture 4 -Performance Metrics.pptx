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4" r:id="rId4"/>
    <p:sldId id="277" r:id="rId5"/>
    <p:sldId id="279" r:id="rId6"/>
    <p:sldId id="278" r:id="rId7"/>
    <p:sldId id="285" r:id="rId8"/>
    <p:sldId id="266" r:id="rId9"/>
    <p:sldId id="265" r:id="rId10"/>
    <p:sldId id="267" r:id="rId11"/>
    <p:sldId id="268" r:id="rId12"/>
    <p:sldId id="269" r:id="rId13"/>
    <p:sldId id="280" r:id="rId14"/>
    <p:sldId id="281" r:id="rId15"/>
    <p:sldId id="282" r:id="rId16"/>
    <p:sldId id="283" r:id="rId17"/>
    <p:sldId id="284" r:id="rId18"/>
    <p:sldId id="270" r:id="rId19"/>
    <p:sldId id="271" r:id="rId20"/>
    <p:sldId id="272" r:id="rId21"/>
    <p:sldId id="273" r:id="rId22"/>
    <p:sldId id="274" r:id="rId23"/>
    <p:sldId id="286" r:id="rId24"/>
    <p:sldId id="287" r:id="rId25"/>
    <p:sldId id="288" r:id="rId26"/>
    <p:sldId id="289" r:id="rId27"/>
    <p:sldId id="29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919A-F98B-40E7-B128-CCBE003B29F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4D009-3C53-4A78-B719-1B525C8EF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46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4D009-3C53-4A78-B719-1B525C8EF2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20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eaLnBrk="1" hangingPunct="1">
              <a:defRPr/>
            </a:pPr>
            <a:fld id="{56E49F24-BCD7-4F3A-B1DE-5BE79BB2D22D}" type="slidenum">
              <a:rPr lang="en-US" smtClean="0">
                <a:latin typeface="Arial" pitchFamily="34" charset="0"/>
              </a:rPr>
              <a:pPr eaLnBrk="1" hangingPunct="1">
                <a:defRPr/>
              </a:pPr>
              <a:t>12</a:t>
            </a:fld>
            <a:endParaRPr lang="en-US">
              <a:latin typeface="Arial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969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eaLnBrk="1" hangingPunct="1">
              <a:defRPr/>
            </a:pPr>
            <a:fld id="{56E49F24-BCD7-4F3A-B1DE-5BE79BB2D22D}" type="slidenum">
              <a:rPr lang="en-US" smtClean="0">
                <a:latin typeface="Arial" pitchFamily="34" charset="0"/>
              </a:rPr>
              <a:pPr eaLnBrk="1" hangingPunct="1">
                <a:defRPr/>
              </a:pPr>
              <a:t>18</a:t>
            </a:fld>
            <a:endParaRPr lang="en-US">
              <a:latin typeface="Arial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350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A4D009-3C53-4A78-B719-1B525C8EF20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C3C47-60CC-4383-BEEA-24C4309E920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8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07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044B5-D151-4F55-9AEF-FD07C0757923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4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7CBA8-B834-43FC-93F8-D0CCFFBC5598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3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4A3E6-3CAB-428D-93BD-2FFD3614F959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0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C7BC6-3E9A-4092-9D89-984BBBEB5353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76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1A11-AC29-433C-B0CC-1216A4784558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7463-2493-43EC-B938-5DC92B744431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0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1A82-E643-405F-9819-5AA5F2F3DF87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1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11D12-5380-425E-9997-42565D191B6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40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B52D-A87B-43C5-B350-6047B84E6DBA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5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A09AE-CFEC-426E-8443-D2A3CD31B052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653BE-5C84-47C8-BD6C-C4E4BA1A3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88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l.ac.uk/webtemplate/ask-assets/external/maths-resources/statistics/regression-and-correlation/coefficient-of-determination-r-squared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55128" y="1122363"/>
            <a:ext cx="6412871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Metrics for Classification &amp; Regression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27136" y="3602038"/>
            <a:ext cx="4040863" cy="1655762"/>
          </a:xfrm>
        </p:spPr>
        <p:txBody>
          <a:bodyPr/>
          <a:lstStyle/>
          <a:p>
            <a:pPr algn="r"/>
            <a:r>
              <a:rPr lang="en-US" dirty="0"/>
              <a:t>- Dr. </a:t>
            </a:r>
            <a:r>
              <a:rPr lang="en-US" dirty="0" err="1"/>
              <a:t>Sifat</a:t>
            </a:r>
            <a:r>
              <a:rPr lang="en-US" dirty="0"/>
              <a:t> </a:t>
            </a:r>
            <a:r>
              <a:rPr lang="en-US" dirty="0" err="1"/>
              <a:t>Momen</a:t>
            </a:r>
            <a:r>
              <a:rPr lang="en-US" dirty="0"/>
              <a:t> (SfM1)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2139" y="355253"/>
            <a:ext cx="25711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0" b="1" dirty="0"/>
              <a:t>4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39" y="4645151"/>
            <a:ext cx="4028165" cy="210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21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Learning goals</a:t>
            </a:r>
            <a:endParaRPr lang="en-US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this presentation, you should be able to</a:t>
            </a:r>
          </a:p>
          <a:p>
            <a:pPr lvl="1"/>
            <a:r>
              <a:rPr lang="en-US" dirty="0"/>
              <a:t>Appreciate the strengths of different classification and regression metrics</a:t>
            </a:r>
          </a:p>
          <a:p>
            <a:pPr lvl="1"/>
            <a:r>
              <a:rPr lang="en-US" dirty="0"/>
              <a:t>Understand and calculate precision, recall, F1-score</a:t>
            </a:r>
          </a:p>
          <a:p>
            <a:pPr lvl="1"/>
            <a:r>
              <a:rPr lang="en-US" dirty="0"/>
              <a:t>Understand the differences between macro and weighted scores</a:t>
            </a:r>
          </a:p>
          <a:p>
            <a:pPr lvl="1"/>
            <a:r>
              <a:rPr lang="en-US" dirty="0"/>
              <a:t>Understand and calculate MSE, RMSE, MAE, and R</a:t>
            </a:r>
            <a:r>
              <a:rPr lang="en-US" baseline="30000" dirty="0"/>
              <a:t>2</a:t>
            </a:r>
            <a:r>
              <a:rPr lang="en-US" dirty="0"/>
              <a:t> score.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BB365-46D6-41CC-B1DB-CC25BA09BF18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6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Evaluate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Problem</a:t>
            </a:r>
          </a:p>
          <a:p>
            <a:pPr lvl="1"/>
            <a:r>
              <a:rPr lang="en-US" dirty="0"/>
              <a:t>Accuracy</a:t>
            </a:r>
          </a:p>
          <a:p>
            <a:pPr lvl="1"/>
            <a:r>
              <a:rPr lang="en-US" dirty="0"/>
              <a:t>Confusion Matrix (tool)</a:t>
            </a:r>
          </a:p>
          <a:p>
            <a:pPr lvl="1"/>
            <a:r>
              <a:rPr lang="en-US" dirty="0"/>
              <a:t>Precision</a:t>
            </a:r>
          </a:p>
          <a:p>
            <a:pPr lvl="1"/>
            <a:r>
              <a:rPr lang="en-US" dirty="0"/>
              <a:t>Recall</a:t>
            </a:r>
          </a:p>
          <a:p>
            <a:pPr lvl="1"/>
            <a:r>
              <a:rPr lang="en-US" dirty="0"/>
              <a:t>F1- score</a:t>
            </a:r>
          </a:p>
          <a:p>
            <a:pPr lvl="1"/>
            <a:r>
              <a:rPr lang="en-US" dirty="0"/>
              <a:t>Area Under the ROC curve (Not covered in this presentation)</a:t>
            </a:r>
          </a:p>
          <a:p>
            <a:r>
              <a:rPr lang="en-US" dirty="0"/>
              <a:t>Regression Problem</a:t>
            </a:r>
          </a:p>
          <a:p>
            <a:pPr lvl="1"/>
            <a:r>
              <a:rPr lang="en-US" dirty="0"/>
              <a:t>MSE, RMSE, MAE, R</a:t>
            </a:r>
            <a:r>
              <a:rPr lang="en-US" baseline="30000" dirty="0"/>
              <a:t>2</a:t>
            </a:r>
            <a:r>
              <a:rPr lang="en-US" dirty="0"/>
              <a:t> score</a:t>
            </a:r>
          </a:p>
        </p:txBody>
      </p:sp>
    </p:spTree>
    <p:extLst>
      <p:ext uri="{BB962C8B-B14F-4D97-AF65-F5344CB8AC3E}">
        <p14:creationId xmlns:p14="http://schemas.microsoft.com/office/powerpoint/2010/main" val="3023312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Accuracy (Binary Classification Problem)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218240"/>
              </p:ext>
            </p:extLst>
          </p:nvPr>
        </p:nvGraphicFramePr>
        <p:xfrm>
          <a:off x="1007201" y="1567610"/>
          <a:ext cx="2489693" cy="43918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4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sz="1700" dirty="0">
                          <a:effectLst/>
                        </a:rPr>
                      </a:br>
                      <a:r>
                        <a:rPr lang="en-US" sz="1700" dirty="0" err="1">
                          <a:effectLst/>
                        </a:rPr>
                        <a:t>y_true</a:t>
                      </a:r>
                      <a:endParaRPr lang="en-US" sz="1700" b="1" dirty="0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dirty="0" err="1">
                          <a:effectLst/>
                        </a:rPr>
                        <a:t>y_pred</a:t>
                      </a:r>
                      <a:endParaRPr lang="en-US" sz="1700" b="1" dirty="0">
                        <a:effectLst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2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3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4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5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6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7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8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9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10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112849"/>
              </p:ext>
            </p:extLst>
          </p:nvPr>
        </p:nvGraphicFramePr>
        <p:xfrm>
          <a:off x="5910072" y="1322102"/>
          <a:ext cx="5401056" cy="3200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00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dirty="0">
                          <a:effectLst/>
                        </a:rPr>
                      </a:br>
                      <a:r>
                        <a:rPr lang="en-US" dirty="0" err="1">
                          <a:effectLst/>
                        </a:rPr>
                        <a:t>y_true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 err="1">
                          <a:effectLst/>
                        </a:rPr>
                        <a:t>y_pred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3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5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8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10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764024" y="4700016"/>
                <a:ext cx="4023360" cy="48244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𝐴𝑐𝑐𝑢𝑟𝑎𝑐𝑦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en-US" dirty="0"/>
                  <a:t>  = 0.6363…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024" y="4700016"/>
                <a:ext cx="4023360" cy="482440"/>
              </a:xfrm>
              <a:prstGeom prst="rect">
                <a:avLst/>
              </a:prstGeom>
              <a:blipFill rotWithShape="0">
                <a:blip r:embed="rId2"/>
                <a:stretch>
                  <a:fillRect l="-454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6775704" y="5358384"/>
            <a:ext cx="448970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endParaRPr lang="en-US" dirty="0"/>
          </a:p>
          <a:p>
            <a:r>
              <a:rPr lang="en-US" dirty="0" err="1"/>
              <a:t>accuracy_score</a:t>
            </a:r>
            <a:r>
              <a:rPr lang="en-US" dirty="0"/>
              <a:t>(</a:t>
            </a:r>
            <a:r>
              <a:rPr lang="en-US" dirty="0" err="1"/>
              <a:t>y_true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1144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7693"/>
            <a:ext cx="10515600" cy="1325563"/>
          </a:xfrm>
        </p:spPr>
        <p:txBody>
          <a:bodyPr/>
          <a:lstStyle/>
          <a:p>
            <a:r>
              <a:rPr lang="en-US" dirty="0"/>
              <a:t>Accuracy (Multi-class Classification Problem)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03121"/>
              </p:ext>
            </p:extLst>
          </p:nvPr>
        </p:nvGraphicFramePr>
        <p:xfrm>
          <a:off x="838200" y="2035334"/>
          <a:ext cx="3249168" cy="39319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835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dirty="0">
                          <a:effectLst/>
                        </a:rPr>
                      </a:br>
                      <a:r>
                        <a:rPr lang="en-US" dirty="0" err="1">
                          <a:effectLst/>
                        </a:rPr>
                        <a:t>y_true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 err="1">
                          <a:effectLst/>
                        </a:rPr>
                        <a:t>y_pred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3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5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7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8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677609"/>
              </p:ext>
            </p:extLst>
          </p:nvPr>
        </p:nvGraphicFramePr>
        <p:xfrm>
          <a:off x="7580376" y="1925606"/>
          <a:ext cx="4050792" cy="28346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350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dirty="0">
                          <a:effectLst/>
                        </a:rPr>
                      </a:br>
                      <a:r>
                        <a:rPr lang="en-US" dirty="0" err="1">
                          <a:effectLst/>
                        </a:rPr>
                        <a:t>y_true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 err="1">
                          <a:effectLst/>
                        </a:rPr>
                        <a:t>y_pred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3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7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89120" y="2889504"/>
                <a:ext cx="3054096" cy="61273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120" y="2889504"/>
                <a:ext cx="3054096" cy="6127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965192" y="5020056"/>
            <a:ext cx="662940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print('Accuracy: ', "{:.2f}".format(</a:t>
            </a:r>
            <a:r>
              <a:rPr lang="en-US" dirty="0" err="1"/>
              <a:t>accuracy_score</a:t>
            </a:r>
            <a:r>
              <a:rPr lang="en-US" dirty="0"/>
              <a:t>(</a:t>
            </a:r>
            <a:r>
              <a:rPr lang="en-US" dirty="0" err="1"/>
              <a:t>y_true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)))</a:t>
            </a:r>
          </a:p>
        </p:txBody>
      </p:sp>
    </p:spTree>
    <p:extLst>
      <p:ext uri="{BB962C8B-B14F-4D97-AF65-F5344CB8AC3E}">
        <p14:creationId xmlns:p14="http://schemas.microsoft.com/office/powerpoint/2010/main" val="344552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 of the “Accuracy”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does not tell us anything about the type of error the model is making.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Say, we have a model that classifies whether an incoming email is spam of not spam and we have a model that classifies with an accuracy of 90%</a:t>
            </a:r>
          </a:p>
          <a:p>
            <a:pPr lvl="1"/>
            <a:r>
              <a:rPr lang="en-US" dirty="0"/>
              <a:t>This means that there exists a 10% error.</a:t>
            </a:r>
          </a:p>
          <a:p>
            <a:pPr lvl="1"/>
            <a:r>
              <a:rPr lang="en-US" dirty="0"/>
              <a:t>This metric does not tell anything about how much error is being made in each of the types of errors</a:t>
            </a:r>
          </a:p>
          <a:p>
            <a:pPr lvl="2"/>
            <a:r>
              <a:rPr lang="en-US" dirty="0"/>
              <a:t>Email is spam but classifies as non-spam</a:t>
            </a:r>
          </a:p>
          <a:p>
            <a:pPr lvl="2"/>
            <a:r>
              <a:rPr lang="en-US" dirty="0"/>
              <a:t>Email is non-spam but classifies as spam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2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9086" y="1399028"/>
            <a:ext cx="5486411" cy="365760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94" y="1399027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38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Confusion Matrix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Most widely-used metric:</a:t>
            </a:r>
          </a:p>
          <a:p>
            <a:endParaRPr lang="en-US" altLang="en-US"/>
          </a:p>
        </p:txBody>
      </p:sp>
      <p:graphicFrame>
        <p:nvGraphicFramePr>
          <p:cNvPr id="13230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25972"/>
              </p:ext>
            </p:extLst>
          </p:nvPr>
        </p:nvGraphicFramePr>
        <p:xfrm>
          <a:off x="2965704" y="1690688"/>
          <a:ext cx="6096000" cy="282257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5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954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1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(TP)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8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(FP)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b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(TN)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171" name="Object 27"/>
          <p:cNvGraphicFramePr>
            <a:graphicFrameLocks noChangeAspect="1"/>
          </p:cNvGraphicFramePr>
          <p:nvPr/>
        </p:nvGraphicFramePr>
        <p:xfrm>
          <a:off x="2133600" y="5105401"/>
          <a:ext cx="7583488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64200" imgH="723900" progId="Equation.3">
                  <p:embed/>
                </p:oleObj>
              </mc:Choice>
              <mc:Fallback>
                <p:oleObj name="Equation" r:id="rId2" imgW="5664200" imgH="723900" progId="Equation.3">
                  <p:embed/>
                  <p:pic>
                    <p:nvPicPr>
                      <p:cNvPr id="617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05401"/>
                        <a:ext cx="7583488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9464040" y="2651760"/>
            <a:ext cx="2039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 is Type I error</a:t>
            </a:r>
          </a:p>
          <a:p>
            <a:r>
              <a:rPr lang="en-US" dirty="0"/>
              <a:t>FN is Type II error</a:t>
            </a:r>
          </a:p>
        </p:txBody>
      </p:sp>
    </p:spTree>
    <p:extLst>
      <p:ext uri="{BB962C8B-B14F-4D97-AF65-F5344CB8AC3E}">
        <p14:creationId xmlns:p14="http://schemas.microsoft.com/office/powerpoint/2010/main" val="3815584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 Imbalance Problem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Lots of classification problems where the classes are skewed (more records from one class than another)</a:t>
            </a:r>
          </a:p>
          <a:p>
            <a:pPr lvl="1"/>
            <a:r>
              <a:rPr lang="en-US" altLang="en-US" sz="2000" dirty="0"/>
              <a:t>Credit card fraud</a:t>
            </a:r>
          </a:p>
          <a:p>
            <a:pPr lvl="1"/>
            <a:r>
              <a:rPr lang="en-US" altLang="en-US" sz="2000" dirty="0"/>
              <a:t>Intrusion detection</a:t>
            </a:r>
          </a:p>
          <a:p>
            <a:pPr lvl="1"/>
            <a:r>
              <a:rPr lang="en-US" altLang="en-US" sz="2000" dirty="0"/>
              <a:t>Defective products in manufacturing assembly line</a:t>
            </a:r>
          </a:p>
          <a:p>
            <a:pPr lvl="1"/>
            <a:r>
              <a:rPr lang="en-US" altLang="en-US" sz="2000" dirty="0"/>
              <a:t>COVID-19 test results on a random sample</a:t>
            </a:r>
          </a:p>
          <a:p>
            <a:pPr marL="457200" lvl="1" indent="0">
              <a:buNone/>
            </a:pPr>
            <a:endParaRPr lang="en-US" altLang="en-US" sz="2000" dirty="0"/>
          </a:p>
          <a:p>
            <a:r>
              <a:rPr lang="en-US" altLang="en-US" b="1" dirty="0"/>
              <a:t>Key Challenge</a:t>
            </a:r>
            <a:r>
              <a:rPr lang="en-US" altLang="en-US" sz="2400" dirty="0"/>
              <a:t>: </a:t>
            </a:r>
          </a:p>
          <a:p>
            <a:pPr lvl="1"/>
            <a:r>
              <a:rPr lang="en-US" altLang="en-US" dirty="0"/>
              <a:t>Evaluation measures such as accuracy are not well-suited for imbalanced class</a:t>
            </a:r>
          </a:p>
          <a:p>
            <a:endParaRPr lang="en-US" altLang="en-US" sz="2000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80781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Problem with Accuracy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6797" y="1376489"/>
            <a:ext cx="8318500" cy="51888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Consider a 2-class problem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Number of Class NO examples = 990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Number of Class YES examples = 10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If a model predicts everything to be class NO, accuracy is 990/1000 = 99 %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This is misleading because this trivial model does not detect any class YES example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Detecting the rare class is usually more interesting (e.g., frauds, intrusions, defects, </a:t>
            </a:r>
            <a:r>
              <a:rPr lang="en-US" altLang="en-US" sz="1800" dirty="0" err="1"/>
              <a:t>etc</a:t>
            </a:r>
            <a:r>
              <a:rPr lang="en-US" altLang="en-US" sz="1800" dirty="0"/>
              <a:t>)</a:t>
            </a:r>
          </a:p>
        </p:txBody>
      </p:sp>
      <p:graphicFrame>
        <p:nvGraphicFramePr>
          <p:cNvPr id="4" name="Group 4"/>
          <p:cNvGraphicFramePr>
            <a:graphicFrameLocks noGrp="1"/>
          </p:cNvGraphicFramePr>
          <p:nvPr/>
        </p:nvGraphicFramePr>
        <p:xfrm>
          <a:off x="3048000" y="4053696"/>
          <a:ext cx="6096000" cy="265190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6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CLASS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477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  <a:b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7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0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990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41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model is better?</a:t>
            </a:r>
          </a:p>
        </p:txBody>
      </p:sp>
      <p:graphicFrame>
        <p:nvGraphicFramePr>
          <p:cNvPr id="4" name="Group 4"/>
          <p:cNvGraphicFramePr>
            <a:graphicFrameLocks noGrp="1"/>
          </p:cNvGraphicFramePr>
          <p:nvPr/>
        </p:nvGraphicFramePr>
        <p:xfrm>
          <a:off x="2919622" y="1365191"/>
          <a:ext cx="6096000" cy="1877289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12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990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Group 4"/>
          <p:cNvGraphicFramePr>
            <a:graphicFrameLocks noGrp="1"/>
          </p:cNvGraphicFramePr>
          <p:nvPr/>
        </p:nvGraphicFramePr>
        <p:xfrm>
          <a:off x="3200400" y="4038600"/>
          <a:ext cx="6096000" cy="194093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29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PREDICTED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20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b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ACTUAL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Class=Yes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Class=No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490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438400" y="1752600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0800" y="4245114"/>
            <a:ext cx="463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1163" y="3268980"/>
            <a:ext cx="18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Accuracy: 99%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8060" y="5955268"/>
            <a:ext cx="18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Accuracy: 50%</a:t>
            </a:r>
          </a:p>
        </p:txBody>
      </p:sp>
    </p:spTree>
    <p:extLst>
      <p:ext uri="{BB962C8B-B14F-4D97-AF65-F5344CB8AC3E}">
        <p14:creationId xmlns:p14="http://schemas.microsoft.com/office/powerpoint/2010/main" val="1517571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Precision and Recall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05000" y="14478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2400" dirty="0"/>
              <a:t>When evaluating a search tool or a classifier, we are interested in at least two more performance measures: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2400" b="1" dirty="0"/>
              <a:t>Precision: </a:t>
            </a:r>
            <a:r>
              <a:rPr lang="en-US" sz="2400" dirty="0"/>
              <a:t>Within a given set of positively-labeled results, the fraction that were true positives = TP/(TP + FP)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2400" b="1" dirty="0"/>
              <a:t>Recall: </a:t>
            </a:r>
            <a:r>
              <a:rPr lang="en-US" sz="2400" dirty="0"/>
              <a:t>Given a set of positively-labeled results, the fraction of all positives that were retrieved = TP/(TP + FN)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en-US" sz="2400" dirty="0">
                <a:solidFill>
                  <a:schemeClr val="tx2"/>
                </a:solidFill>
              </a:rPr>
              <a:t>Positively-labeled</a:t>
            </a:r>
            <a:r>
              <a:rPr lang="en-US" sz="2400" dirty="0"/>
              <a:t> means judged “relevant” by the search engine or labeled as in the class by a classifier. TP = true positive, FP = false positive etc. </a:t>
            </a:r>
          </a:p>
          <a:p>
            <a:pPr marL="0" indent="0">
              <a:lnSpc>
                <a:spcPct val="100000"/>
              </a:lnSpc>
              <a:buNone/>
              <a:defRPr/>
            </a:pPr>
            <a:endParaRPr lang="en-US" sz="2400" dirty="0"/>
          </a:p>
          <a:p>
            <a:pPr lvl="0">
              <a:lnSpc>
                <a:spcPct val="100000"/>
              </a:lnSpc>
              <a:buNone/>
              <a:defRPr/>
            </a:pPr>
            <a:endParaRPr lang="en-US" sz="2400" dirty="0"/>
          </a:p>
          <a:p>
            <a:pPr lvl="0">
              <a:lnSpc>
                <a:spcPct val="100000"/>
              </a:lnSpc>
              <a:buNone/>
              <a:defRPr/>
            </a:pPr>
            <a:endParaRPr lang="en-US" sz="2400" dirty="0"/>
          </a:p>
          <a:p>
            <a:pPr lvl="0">
              <a:defRPr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7262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(Which of the models is better?)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69935"/>
              </p:ext>
            </p:extLst>
          </p:nvPr>
        </p:nvGraphicFramePr>
        <p:xfrm>
          <a:off x="1355345" y="2228426"/>
          <a:ext cx="5859271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 to SPAM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sent to SPAM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693124"/>
              </p:ext>
            </p:extLst>
          </p:nvPr>
        </p:nvGraphicFramePr>
        <p:xfrm>
          <a:off x="1370584" y="4191338"/>
          <a:ext cx="582574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 to SPAM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sent to SPAM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34840" y="1856232"/>
            <a:ext cx="1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9728" y="5821474"/>
            <a:ext cx="1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225564"/>
            <a:ext cx="33009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</a:t>
            </a:r>
            <a:r>
              <a:rPr lang="en-US" baseline="-25000" dirty="0"/>
              <a:t>A</a:t>
            </a:r>
            <a:r>
              <a:rPr lang="en-US" dirty="0"/>
              <a:t> &gt; FP</a:t>
            </a:r>
            <a:r>
              <a:rPr lang="en-US" baseline="-25000" dirty="0"/>
              <a:t>B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FN</a:t>
            </a:r>
            <a:r>
              <a:rPr lang="en-US" baseline="-25000" dirty="0"/>
              <a:t>B</a:t>
            </a:r>
            <a:r>
              <a:rPr lang="en-US" dirty="0"/>
              <a:t> &gt; FN</a:t>
            </a:r>
            <a:r>
              <a:rPr lang="en-US" baseline="-25000" dirty="0"/>
              <a:t>A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FP: Not Spam </a:t>
            </a:r>
            <a:r>
              <a:rPr lang="en-US" dirty="0">
                <a:sym typeface="Wingdings" panose="05000000000000000000" pitchFamily="2" charset="2"/>
              </a:rPr>
              <a:t> Spam</a:t>
            </a:r>
          </a:p>
          <a:p>
            <a:r>
              <a:rPr lang="en-US" dirty="0">
                <a:sym typeface="Wingdings" panose="05000000000000000000" pitchFamily="2" charset="2"/>
              </a:rPr>
              <a:t>FN: Spam  Not Spam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FP, in this context, is a more grievous error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In this context, Model B is better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25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(Which of the models is better?)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669935"/>
              </p:ext>
            </p:extLst>
          </p:nvPr>
        </p:nvGraphicFramePr>
        <p:xfrm>
          <a:off x="1355345" y="2228426"/>
          <a:ext cx="5859271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 to SPAM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sent to SPAM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693124"/>
              </p:ext>
            </p:extLst>
          </p:nvPr>
        </p:nvGraphicFramePr>
        <p:xfrm>
          <a:off x="1370584" y="4191338"/>
          <a:ext cx="582574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 to SPAM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sent to SPAM folder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 SPAM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434840" y="1856232"/>
            <a:ext cx="1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9728" y="5821474"/>
            <a:ext cx="1444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302752" y="2225564"/>
                <a:ext cx="3300984" cy="3064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A: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100+30</m:t>
                        </m:r>
                      </m:den>
                    </m:f>
                  </m:oMath>
                </a14:m>
                <a:r>
                  <a:rPr lang="en-US" dirty="0"/>
                  <a:t> = 0.7692</a:t>
                </a:r>
              </a:p>
              <a:p>
                <a:endParaRPr lang="en-US" dirty="0"/>
              </a:p>
              <a:p>
                <a:r>
                  <a:rPr lang="en-US" dirty="0"/>
                  <a:t>Model B: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𝑃𝑟𝑒𝑐𝑖𝑠𝑖𝑜𝑛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100+10</m:t>
                        </m:r>
                      </m:den>
                    </m:f>
                  </m:oMath>
                </a14:m>
                <a:r>
                  <a:rPr lang="en-US" dirty="0"/>
                  <a:t> = 0.9091</a:t>
                </a:r>
              </a:p>
              <a:p>
                <a:endParaRPr lang="en-US" dirty="0"/>
              </a:p>
              <a:p>
                <a:r>
                  <a:rPr lang="en-US" dirty="0"/>
                  <a:t>Model B is better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752" y="2225564"/>
                <a:ext cx="3300984" cy="3064365"/>
              </a:xfrm>
              <a:prstGeom prst="rect">
                <a:avLst/>
              </a:prstGeom>
              <a:blipFill rotWithShape="0">
                <a:blip r:embed="rId2"/>
                <a:stretch>
                  <a:fillRect l="-1476" b="-2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1072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(Which of the models is better?)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80423"/>
              </p:ext>
            </p:extLst>
          </p:nvPr>
        </p:nvGraphicFramePr>
        <p:xfrm>
          <a:off x="1337057" y="1690688"/>
          <a:ext cx="585927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Detected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Detected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Has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370852"/>
              </p:ext>
            </p:extLst>
          </p:nvPr>
        </p:nvGraphicFramePr>
        <p:xfrm>
          <a:off x="1407161" y="4136474"/>
          <a:ext cx="585927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Detected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Detected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Has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81400" y="34015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8936" y="585825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938528"/>
            <a:ext cx="29535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FP</a:t>
            </a:r>
            <a:r>
              <a:rPr lang="en-US" baseline="-25000" dirty="0"/>
              <a:t>A</a:t>
            </a:r>
            <a:r>
              <a:rPr lang="en-US" dirty="0"/>
              <a:t> &gt; FP</a:t>
            </a:r>
            <a:r>
              <a:rPr lang="en-US" baseline="-25000" dirty="0"/>
              <a:t>B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FN</a:t>
            </a:r>
            <a:r>
              <a:rPr lang="en-US" baseline="-25000" dirty="0"/>
              <a:t>B</a:t>
            </a:r>
            <a:r>
              <a:rPr lang="en-US" dirty="0"/>
              <a:t> &gt; FN</a:t>
            </a:r>
            <a:r>
              <a:rPr lang="en-US" baseline="-25000" dirty="0"/>
              <a:t>A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FP: No cancer </a:t>
            </a:r>
            <a:r>
              <a:rPr lang="en-US" dirty="0">
                <a:sym typeface="Wingdings" panose="05000000000000000000" pitchFamily="2" charset="2"/>
              </a:rPr>
              <a:t> Cancer</a:t>
            </a:r>
          </a:p>
          <a:p>
            <a:r>
              <a:rPr lang="en-US" dirty="0">
                <a:sym typeface="Wingdings" panose="05000000000000000000" pitchFamily="2" charset="2"/>
              </a:rPr>
              <a:t>FN: Cancer  No Cancer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Here, FN  is a more grievous error</a:t>
            </a:r>
            <a:r>
              <a:rPr lang="en-US" dirty="0"/>
              <a:t> </a:t>
            </a:r>
          </a:p>
          <a:p>
            <a:r>
              <a:rPr lang="en-US" dirty="0"/>
              <a:t>Hence, model A is better</a:t>
            </a:r>
          </a:p>
        </p:txBody>
      </p:sp>
    </p:spTree>
    <p:extLst>
      <p:ext uri="{BB962C8B-B14F-4D97-AF65-F5344CB8AC3E}">
        <p14:creationId xmlns:p14="http://schemas.microsoft.com/office/powerpoint/2010/main" val="2992505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(Which of the models is better?)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80423"/>
              </p:ext>
            </p:extLst>
          </p:nvPr>
        </p:nvGraphicFramePr>
        <p:xfrm>
          <a:off x="1337057" y="1690688"/>
          <a:ext cx="585927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Detected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Detected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Has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370852"/>
              </p:ext>
            </p:extLst>
          </p:nvPr>
        </p:nvGraphicFramePr>
        <p:xfrm>
          <a:off x="1407161" y="4136474"/>
          <a:ext cx="5859271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Detected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Detected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Has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581400" y="34015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8936" y="585825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778240" y="1938528"/>
                <a:ext cx="2953512" cy="3064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Model A: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1000+200</m:t>
                        </m:r>
                      </m:den>
                    </m:f>
                  </m:oMath>
                </a14:m>
                <a:r>
                  <a:rPr lang="en-US" dirty="0"/>
                  <a:t> = 0.833</a:t>
                </a:r>
              </a:p>
              <a:p>
                <a:endParaRPr lang="en-US" dirty="0"/>
              </a:p>
              <a:p>
                <a:r>
                  <a:rPr lang="en-US" dirty="0"/>
                  <a:t>Model B: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𝑅𝑒𝑐𝑎𝑙𝑙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1000+500</m:t>
                        </m:r>
                      </m:den>
                    </m:f>
                  </m:oMath>
                </a14:m>
                <a:r>
                  <a:rPr lang="en-US" dirty="0"/>
                  <a:t> = 0.667</a:t>
                </a:r>
              </a:p>
              <a:p>
                <a:endParaRPr lang="en-US" dirty="0"/>
              </a:p>
              <a:p>
                <a:r>
                  <a:rPr lang="en-US" dirty="0"/>
                  <a:t>Model A is better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0" y="1938528"/>
                <a:ext cx="2953512" cy="3064365"/>
              </a:xfrm>
              <a:prstGeom prst="rect">
                <a:avLst/>
              </a:prstGeom>
              <a:blipFill rotWithShape="0">
                <a:blip r:embed="rId2"/>
                <a:stretch>
                  <a:fillRect l="-1649" b="-2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470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&amp; Recall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FN is a more grievous error, Recall is more important than precision</a:t>
            </a:r>
          </a:p>
          <a:p>
            <a:r>
              <a:rPr lang="en-US" dirty="0"/>
              <a:t>If FP is a more grievous error, Precision is more important that Recall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60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29092"/>
            <a:ext cx="8229600" cy="903642"/>
          </a:xfrm>
        </p:spPr>
        <p:txBody>
          <a:bodyPr/>
          <a:lstStyle/>
          <a:p>
            <a:pPr eaLnBrk="1" hangingPunct="1"/>
            <a:r>
              <a:rPr lang="en-US" sz="3600" dirty="0"/>
              <a:t>Precision-Recall Tradeoff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905000" y="1258646"/>
            <a:ext cx="8229600" cy="498975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2400" dirty="0"/>
              <a:t>Search tools and classifiers normally assign </a:t>
            </a:r>
            <a:r>
              <a:rPr lang="en-US" sz="2400" dirty="0">
                <a:solidFill>
                  <a:srgbClr val="C00000"/>
                </a:solidFill>
              </a:rPr>
              <a:t>scores</a:t>
            </a:r>
            <a:r>
              <a:rPr lang="en-US" sz="2400" dirty="0"/>
              <a:t> to items. Sorting by score gives us a precision-recall plot which shows what performance would be for </a:t>
            </a:r>
            <a:r>
              <a:rPr lang="en-US" sz="2400" dirty="0">
                <a:solidFill>
                  <a:srgbClr val="C00000"/>
                </a:solidFill>
              </a:rPr>
              <a:t>different score thresholds</a:t>
            </a:r>
            <a:r>
              <a:rPr lang="en-US" sz="2400" dirty="0"/>
              <a:t>.</a:t>
            </a:r>
          </a:p>
          <a:p>
            <a:pPr lvl="0">
              <a:lnSpc>
                <a:spcPct val="100000"/>
              </a:lnSpc>
              <a:buNone/>
              <a:defRPr/>
            </a:pPr>
            <a:endParaRPr lang="en-US" sz="2400" dirty="0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362201"/>
            <a:ext cx="5791200" cy="3897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5867400" y="2971800"/>
            <a:ext cx="1524000" cy="7620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77000" y="2819401"/>
            <a:ext cx="2200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Score increasing</a:t>
            </a:r>
          </a:p>
        </p:txBody>
      </p:sp>
    </p:spTree>
    <p:extLst>
      <p:ext uri="{BB962C8B-B14F-4D97-AF65-F5344CB8AC3E}">
        <p14:creationId xmlns:p14="http://schemas.microsoft.com/office/powerpoint/2010/main" val="1658567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(Digit 5 to be correctly recognized)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334" y="1825625"/>
            <a:ext cx="7299332" cy="4351338"/>
          </a:xfrm>
        </p:spPr>
      </p:pic>
    </p:spTree>
    <p:extLst>
      <p:ext uri="{BB962C8B-B14F-4D97-AF65-F5344CB8AC3E}">
        <p14:creationId xmlns:p14="http://schemas.microsoft.com/office/powerpoint/2010/main" val="45607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Precision- Recall Tradeoff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823" y="1825625"/>
            <a:ext cx="8528354" cy="4351338"/>
          </a:xfrm>
        </p:spPr>
      </p:pic>
    </p:spTree>
    <p:extLst>
      <p:ext uri="{BB962C8B-B14F-4D97-AF65-F5344CB8AC3E}">
        <p14:creationId xmlns:p14="http://schemas.microsoft.com/office/powerpoint/2010/main" val="2469229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Precision-Recall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precision would occur when FP is less</a:t>
            </a:r>
          </a:p>
          <a:p>
            <a:r>
              <a:rPr lang="en-US" dirty="0"/>
              <a:t>High recall would occur when FN is less</a:t>
            </a:r>
          </a:p>
          <a:p>
            <a:r>
              <a:rPr lang="en-US" dirty="0"/>
              <a:t>If you train a classifier to detect videos that are safe for kids, you would probably prefer a classifier that reject many good videos but keeps only the safe ones. In this case, you would like to keep FP less and hence you would likely to prefer a model with high precision over a model with high recall.</a:t>
            </a:r>
          </a:p>
          <a:p>
            <a:r>
              <a:rPr lang="en-US" dirty="0"/>
              <a:t>Suppose, you train a classifier that detects shoplifters in surveillance images. You may want to keep FN less and hence recall would be more important.</a:t>
            </a:r>
          </a:p>
        </p:txBody>
      </p:sp>
    </p:spTree>
    <p:extLst>
      <p:ext uri="{BB962C8B-B14F-4D97-AF65-F5344CB8AC3E}">
        <p14:creationId xmlns:p14="http://schemas.microsoft.com/office/powerpoint/2010/main" val="110226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F1 – score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F1 – score is the harmonic mean of precision and recall.</a:t>
                </a:r>
              </a:p>
              <a:p>
                <a:r>
                  <a:rPr lang="en-US" dirty="0"/>
                  <a:t>Harmonic Mean is a type of numerical average.</a:t>
                </a:r>
              </a:p>
              <a:p>
                <a:r>
                  <a:rPr lang="en-US" dirty="0"/>
                  <a:t>It is calculated by dividing the number of observations, or entries in the series, by the reciprocal of each number in the series.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 ×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757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Precision, Recall, F1 Score (Binary Classification Problem)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3205648"/>
              </p:ext>
            </p:extLst>
          </p:nvPr>
        </p:nvGraphicFramePr>
        <p:xfrm>
          <a:off x="1007201" y="1567610"/>
          <a:ext cx="2489693" cy="43918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4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3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sz="1700" dirty="0">
                          <a:effectLst/>
                        </a:rPr>
                      </a:br>
                      <a:r>
                        <a:rPr lang="en-US" sz="1700" dirty="0" err="1">
                          <a:effectLst/>
                        </a:rPr>
                        <a:t>y_true</a:t>
                      </a:r>
                      <a:endParaRPr lang="en-US" sz="1700" b="1" dirty="0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dirty="0" err="1">
                          <a:effectLst/>
                        </a:rPr>
                        <a:t>y_pred</a:t>
                      </a:r>
                      <a:endParaRPr lang="en-US" sz="1700" b="1" dirty="0">
                        <a:effectLst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2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3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4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5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6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7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8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9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10</a:t>
                      </a:r>
                      <a:endParaRPr lang="en-US" sz="1700" b="1">
                        <a:effectLst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22" y="1618484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97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Precision, Recall, F1 Score (Binary Classification Problem)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24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	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  0                    0.57         0.80        0.67         5</a:t>
            </a:r>
          </a:p>
          <a:p>
            <a:r>
              <a:rPr lang="en-US" dirty="0"/>
              <a:t>           1                    0.75         0.50        0.60         6</a:t>
            </a:r>
          </a:p>
          <a:p>
            <a:endParaRPr lang="en-US" dirty="0"/>
          </a:p>
          <a:p>
            <a:r>
              <a:rPr lang="en-US" dirty="0"/>
              <a:t>    accuracy                                               0.64       11</a:t>
            </a:r>
          </a:p>
          <a:p>
            <a:r>
              <a:rPr lang="en-US" dirty="0"/>
              <a:t>   macro </a:t>
            </a:r>
            <a:r>
              <a:rPr lang="en-US" dirty="0" err="1"/>
              <a:t>avg</a:t>
            </a:r>
            <a:r>
              <a:rPr lang="en-US" dirty="0"/>
              <a:t>            0.66          0.65        0.63       11</a:t>
            </a:r>
          </a:p>
          <a:p>
            <a:r>
              <a:rPr lang="en-US" dirty="0"/>
              <a:t>weighted </a:t>
            </a:r>
            <a:r>
              <a:rPr lang="en-US" dirty="0" err="1"/>
              <a:t>avg</a:t>
            </a:r>
            <a:r>
              <a:rPr lang="en-US" dirty="0"/>
              <a:t>         0.67          0.64         0.63       11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89" y="1956812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391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Precision, Recall, F1 Score (Multi-class classification problem)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178953"/>
              </p:ext>
            </p:extLst>
          </p:nvPr>
        </p:nvGraphicFramePr>
        <p:xfrm>
          <a:off x="838200" y="2035334"/>
          <a:ext cx="3249168" cy="39319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835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br>
                        <a:rPr lang="en-US" dirty="0">
                          <a:effectLst/>
                        </a:rPr>
                      </a:br>
                      <a:r>
                        <a:rPr lang="en-US" dirty="0" err="1">
                          <a:effectLst/>
                        </a:rPr>
                        <a:t>y_true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 err="1">
                          <a:effectLst/>
                        </a:rPr>
                        <a:t>y_pred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2</a:t>
                      </a:r>
                      <a:endParaRPr lang="en-US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3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4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5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6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7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8</a:t>
                      </a:r>
                      <a:endParaRPr lang="en-US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dog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mouse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194" y="1819652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48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Precision, Recall, F1 Score (Multi-class classification problem)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6A4EC-CEAB-44FC-A44B-1DABAEA46D0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594" y="1993388"/>
            <a:ext cx="5486411" cy="365760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08304" y="212568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	              precision    recall  f1-score   support</a:t>
            </a:r>
          </a:p>
          <a:p>
            <a:endParaRPr lang="en-US" dirty="0"/>
          </a:p>
          <a:p>
            <a:r>
              <a:rPr lang="en-US" dirty="0"/>
              <a:t>         cat       	0.60     	    1.00      0.75         3</a:t>
            </a:r>
          </a:p>
          <a:p>
            <a:r>
              <a:rPr lang="en-US" dirty="0"/>
              <a:t>         dog      	1.00    	    0.33      0.50         3</a:t>
            </a:r>
          </a:p>
          <a:p>
            <a:r>
              <a:rPr lang="en-US" dirty="0"/>
              <a:t>       mouse                0.67    	    0.67      0.67         3</a:t>
            </a:r>
          </a:p>
          <a:p>
            <a:endParaRPr lang="en-US" dirty="0"/>
          </a:p>
          <a:p>
            <a:r>
              <a:rPr lang="en-US" dirty="0"/>
              <a:t>    accuracy                                                   0.67         9</a:t>
            </a:r>
          </a:p>
          <a:p>
            <a:r>
              <a:rPr lang="en-US" dirty="0"/>
              <a:t>   macro </a:t>
            </a:r>
            <a:r>
              <a:rPr lang="en-US" dirty="0" err="1"/>
              <a:t>avg</a:t>
            </a:r>
            <a:r>
              <a:rPr lang="en-US" dirty="0"/>
              <a:t>       	0.76     	    0.67      0.64         9</a:t>
            </a:r>
          </a:p>
          <a:p>
            <a:r>
              <a:rPr lang="en-US" dirty="0"/>
              <a:t>weighted </a:t>
            </a:r>
            <a:r>
              <a:rPr lang="en-US" dirty="0" err="1"/>
              <a:t>avg</a:t>
            </a:r>
            <a:r>
              <a:rPr lang="en-US" dirty="0"/>
              <a:t>      	0.76	    0.67      0.64         9</a:t>
            </a:r>
          </a:p>
        </p:txBody>
      </p:sp>
    </p:spTree>
    <p:extLst>
      <p:ext uri="{BB962C8B-B14F-4D97-AF65-F5344CB8AC3E}">
        <p14:creationId xmlns:p14="http://schemas.microsoft.com/office/powerpoint/2010/main" val="2210894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Mean Squared Error (MSE)</a:t>
                </a:r>
              </a:p>
              <a:p>
                <a:pPr lvl="1"/>
                <a:r>
                  <a:rPr lang="en-US" dirty="0"/>
                  <a:t>MSE = mean((</a:t>
                </a:r>
                <a:r>
                  <a:rPr lang="en-US" dirty="0" err="1"/>
                  <a:t>observeds</a:t>
                </a:r>
                <a:r>
                  <a:rPr lang="en-US" dirty="0"/>
                  <a:t> - </a:t>
                </a:r>
                <a:r>
                  <a:rPr lang="en-US" dirty="0" err="1"/>
                  <a:t>predicteds</a:t>
                </a:r>
                <a:r>
                  <a:rPr lang="en-US" dirty="0"/>
                  <a:t>)^2)</a:t>
                </a:r>
              </a:p>
              <a:p>
                <a:r>
                  <a:rPr lang="en-US" dirty="0"/>
                  <a:t>Root Mean Squared Error (RMSE)</a:t>
                </a:r>
              </a:p>
              <a:p>
                <a:pPr lvl="1"/>
                <a:r>
                  <a:rPr lang="en-US" dirty="0"/>
                  <a:t>RMSE = </a:t>
                </a:r>
                <a:r>
                  <a:rPr lang="en-US" dirty="0" err="1"/>
                  <a:t>sqrt</a:t>
                </a:r>
                <a:r>
                  <a:rPr lang="en-US" dirty="0"/>
                  <a:t>(MSE)</a:t>
                </a:r>
              </a:p>
              <a:p>
                <a:r>
                  <a:rPr lang="en-US" dirty="0"/>
                  <a:t>Mean Absolute Error (MAE)</a:t>
                </a:r>
              </a:p>
              <a:p>
                <a:pPr lvl="1"/>
                <a:r>
                  <a:rPr lang="en-US" dirty="0"/>
                  <a:t>MAE = mean(abs(</a:t>
                </a:r>
                <a:r>
                  <a:rPr lang="en-US" dirty="0" err="1"/>
                  <a:t>observeds</a:t>
                </a:r>
                <a:r>
                  <a:rPr lang="en-US" dirty="0"/>
                  <a:t> - </a:t>
                </a:r>
                <a:r>
                  <a:rPr lang="en-US" dirty="0" err="1"/>
                  <a:t>predicteds</a:t>
                </a:r>
                <a:r>
                  <a:rPr lang="en-US" dirty="0"/>
                  <a:t>))</a:t>
                </a:r>
              </a:p>
              <a:p>
                <a:r>
                  <a:rPr lang="en-US" dirty="0"/>
                  <a:t>R-Squared (R2 score)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=1 −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 </m:t>
                        </m:r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>
                    <a:hlinkClick r:id="rId3"/>
                  </a:rPr>
                  <a:t>https://www.ncl.ac.uk/webtemplate/ask-assets/external/maths-resources/statistics/regression-and-correlation/coefficient-of-determination-r-squared.html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Adjusted R-Squared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l="-928" t="-3501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6C1F7-BDC4-4A08-8C3B-D997B30FBFE0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Slides by Dr. Sifat Momen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653BE-5C84-47C8-BD6C-C4E4BA1A36D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1692</Words>
  <Application>Microsoft Office PowerPoint</Application>
  <PresentationFormat>Widescreen</PresentationFormat>
  <Paragraphs>502</Paragraphs>
  <Slides>27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Performance Metrics for Classification &amp; Regression Problem</vt:lpstr>
      <vt:lpstr>Learning goals</vt:lpstr>
      <vt:lpstr>How to Evaluate Models?</vt:lpstr>
      <vt:lpstr>Accuracy (Binary Classification Problem)</vt:lpstr>
      <vt:lpstr>Accuracy (Multi-class Classification Problem)</vt:lpstr>
      <vt:lpstr>Weakness of the “Accuracy” Metric</vt:lpstr>
      <vt:lpstr>Confusion Matrix</vt:lpstr>
      <vt:lpstr>Confusion Matrix</vt:lpstr>
      <vt:lpstr>Class Imbalance Problem</vt:lpstr>
      <vt:lpstr>Problem with Accuracy</vt:lpstr>
      <vt:lpstr>Which model is better?</vt:lpstr>
      <vt:lpstr>Precision and Recall</vt:lpstr>
      <vt:lpstr>Precision (Which of the models is better?)</vt:lpstr>
      <vt:lpstr>Precision (Which of the models is better?)</vt:lpstr>
      <vt:lpstr>Recall (Which of the models is better?)</vt:lpstr>
      <vt:lpstr>Recall (Which of the models is better?)</vt:lpstr>
      <vt:lpstr>Precision &amp; Recall</vt:lpstr>
      <vt:lpstr>Precision-Recall Tradeoff</vt:lpstr>
      <vt:lpstr>Confusion Matrix (Digit 5 to be correctly recognized)</vt:lpstr>
      <vt:lpstr>Precision- Recall Tradeoff</vt:lpstr>
      <vt:lpstr>Precision-Recall Tradeoff</vt:lpstr>
      <vt:lpstr>F1 – score </vt:lpstr>
      <vt:lpstr>Precision, Recall, F1 Score (Binary Classification Problem)</vt:lpstr>
      <vt:lpstr>Precision, Recall, F1 Score (Binary Classification Problem)</vt:lpstr>
      <vt:lpstr>Precision, Recall, F1 Score (Multi-class classification problem)</vt:lpstr>
      <vt:lpstr>Precision, Recall, F1 Score (Multi-class classification problem)</vt:lpstr>
      <vt:lpstr>Performance Metric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Machine Learning Landscape</dc:title>
  <dc:creator>ASUS</dc:creator>
  <cp:lastModifiedBy>CLASSROOM</cp:lastModifiedBy>
  <cp:revision>136</cp:revision>
  <dcterms:created xsi:type="dcterms:W3CDTF">2023-01-12T11:50:09Z</dcterms:created>
  <dcterms:modified xsi:type="dcterms:W3CDTF">2026-03-10T03:21:14Z</dcterms:modified>
</cp:coreProperties>
</file>