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>
      <p:cViewPr varScale="1">
        <p:scale>
          <a:sx n="113" d="100"/>
          <a:sy n="113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A919A-F98B-40E7-B128-CCBE003B29F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4D009-3C53-4A78-B719-1B525C8EF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46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4D009-3C53-4A78-B719-1B525C8EF2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20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C3C47-60CC-4383-BEEA-24C4309E9202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8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07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044B5-D151-4F55-9AEF-FD07C0757923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43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7CBA8-B834-43FC-93F8-D0CCFFBC5598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234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4A3E6-3CAB-428D-93BD-2FFD3614F959}" type="datetime1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09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7BC6-3E9A-4092-9D89-984BBBEB5353}" type="datetime1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76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1A11-AC29-433C-B0CC-1216A4784558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97463-2493-43EC-B938-5DC92B744431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0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91A82-E643-405F-9819-5AA5F2F3DF87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11D12-5380-425E-9997-42565D191B62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4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B52D-A87B-43C5-B350-6047B84E6DBA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54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A09AE-CFEC-426E-8443-D2A3CD31B052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8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5128" y="1122363"/>
            <a:ext cx="6412871" cy="2387600"/>
          </a:xfrm>
        </p:spPr>
        <p:txBody>
          <a:bodyPr/>
          <a:lstStyle/>
          <a:p>
            <a:r>
              <a:rPr lang="en-US" dirty="0"/>
              <a:t>Python Primer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27136" y="3602038"/>
            <a:ext cx="4040863" cy="1655762"/>
          </a:xfrm>
        </p:spPr>
        <p:txBody>
          <a:bodyPr/>
          <a:lstStyle/>
          <a:p>
            <a:pPr algn="r"/>
            <a:r>
              <a:rPr lang="en-US" dirty="0"/>
              <a:t>- Dr. </a:t>
            </a:r>
            <a:r>
              <a:rPr lang="en-US" dirty="0" err="1"/>
              <a:t>Sifat</a:t>
            </a:r>
            <a:r>
              <a:rPr lang="en-US" dirty="0"/>
              <a:t> </a:t>
            </a:r>
            <a:r>
              <a:rPr lang="en-US" dirty="0" err="1"/>
              <a:t>Momen</a:t>
            </a:r>
            <a:r>
              <a:rPr lang="en-US" dirty="0"/>
              <a:t> (SfM1)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2139" y="355253"/>
            <a:ext cx="2571184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b="1" dirty="0"/>
              <a:t>2</a:t>
            </a:r>
            <a:endParaRPr lang="en-US" sz="72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769" y="4720590"/>
            <a:ext cx="3429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17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Learning goals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this presentation, you should be able to</a:t>
            </a:r>
          </a:p>
          <a:p>
            <a:pPr lvl="1"/>
            <a:r>
              <a:rPr lang="en-US" dirty="0"/>
              <a:t>Write Simple Python Codes</a:t>
            </a:r>
          </a:p>
          <a:p>
            <a:pPr lvl="1"/>
            <a:r>
              <a:rPr lang="en-US" dirty="0"/>
              <a:t>Write Python Functions</a:t>
            </a:r>
          </a:p>
          <a:p>
            <a:pPr lvl="1"/>
            <a:r>
              <a:rPr lang="en-US" dirty="0"/>
              <a:t>Write Classes, and objects in Python</a:t>
            </a:r>
          </a:p>
          <a:p>
            <a:pPr lvl="1"/>
            <a:r>
              <a:rPr lang="en-US" dirty="0"/>
              <a:t>Apply the concept of inheritance and multiple inheritance in Python </a:t>
            </a:r>
          </a:p>
          <a:p>
            <a:pPr lvl="1"/>
            <a:r>
              <a:rPr lang="en-US" dirty="0"/>
              <a:t>Understand and apply list comprehension</a:t>
            </a:r>
          </a:p>
          <a:p>
            <a:pPr lvl="1"/>
            <a:r>
              <a:rPr lang="en-US" dirty="0"/>
              <a:t>Apply list slicing in Python</a:t>
            </a:r>
          </a:p>
          <a:p>
            <a:pPr lvl="1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B365-46D6-41CC-B1DB-CC25BA09BF18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60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note that this presentation has an accompanying </a:t>
            </a:r>
            <a:r>
              <a:rPr lang="en-US" dirty="0" err="1"/>
              <a:t>Jupyter</a:t>
            </a:r>
            <a:r>
              <a:rPr lang="en-US" dirty="0"/>
              <a:t> notebook.</a:t>
            </a:r>
          </a:p>
          <a:p>
            <a:r>
              <a:rPr lang="en-US" dirty="0"/>
              <a:t>You should use the </a:t>
            </a:r>
            <a:r>
              <a:rPr lang="en-US" dirty="0" err="1"/>
              <a:t>Jupyter</a:t>
            </a:r>
            <a:r>
              <a:rPr lang="en-US" dirty="0"/>
              <a:t> notebook in parallel with this presentation for effective learning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30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61288" y="2020824"/>
            <a:ext cx="3191256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#Print Hello World in Python</a:t>
            </a:r>
          </a:p>
          <a:p>
            <a:r>
              <a:rPr lang="en-US" dirty="0"/>
              <a:t>print ("Hello World")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6192" y="2020824"/>
            <a:ext cx="3191256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#Print Hello World in Python</a:t>
            </a:r>
          </a:p>
          <a:p>
            <a:r>
              <a:rPr lang="en-US" dirty="0"/>
              <a:t>print('Hello World')</a:t>
            </a:r>
          </a:p>
        </p:txBody>
      </p:sp>
    </p:spTree>
    <p:extLst>
      <p:ext uri="{BB962C8B-B14F-4D97-AF65-F5344CB8AC3E}">
        <p14:creationId xmlns:p14="http://schemas.microsoft.com/office/powerpoint/2010/main" val="4257275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Arithmetic Computation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5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8200" y="1874520"/>
            <a:ext cx="7315200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#Do Simple computations like add two numbers, subtract one from another</a:t>
            </a:r>
          </a:p>
          <a:p>
            <a:r>
              <a:rPr lang="en-US" dirty="0"/>
              <a:t>3 + 5</a:t>
            </a:r>
          </a:p>
          <a:p>
            <a:r>
              <a:rPr lang="en-US" dirty="0"/>
              <a:t>1 - 4</a:t>
            </a:r>
          </a:p>
          <a:p>
            <a:r>
              <a:rPr lang="en-US" dirty="0"/>
              <a:t>1 + (4*5)%2</a:t>
            </a:r>
          </a:p>
          <a:p>
            <a:r>
              <a:rPr lang="en-US" dirty="0"/>
              <a:t>9//2</a:t>
            </a:r>
          </a:p>
          <a:p>
            <a:r>
              <a:rPr lang="en-US" dirty="0"/>
              <a:t>11//3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233672"/>
            <a:ext cx="7315200" cy="202996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#Do Simple computations like add two numbers, subtract one from another</a:t>
            </a:r>
          </a:p>
          <a:p>
            <a:r>
              <a:rPr lang="en-US" dirty="0"/>
              <a:t>print(3 + 5)</a:t>
            </a:r>
          </a:p>
          <a:p>
            <a:r>
              <a:rPr lang="en-US" dirty="0"/>
              <a:t>print(1 - 4)</a:t>
            </a:r>
          </a:p>
          <a:p>
            <a:r>
              <a:rPr lang="en-US" dirty="0"/>
              <a:t>print(1 + (4*5)%2)</a:t>
            </a:r>
          </a:p>
          <a:p>
            <a:r>
              <a:rPr lang="en-US" dirty="0"/>
              <a:t>print(9//2)</a:t>
            </a:r>
          </a:p>
          <a:p>
            <a:r>
              <a:rPr lang="en-US" dirty="0"/>
              <a:t>print(29//10)</a:t>
            </a:r>
          </a:p>
          <a:p>
            <a:r>
              <a:rPr lang="en-US" dirty="0"/>
              <a:t>print(3*"Hello World ")</a:t>
            </a:r>
          </a:p>
        </p:txBody>
      </p:sp>
    </p:spTree>
    <p:extLst>
      <p:ext uri="{BB962C8B-B14F-4D97-AF65-F5344CB8AC3E}">
        <p14:creationId xmlns:p14="http://schemas.microsoft.com/office/powerpoint/2010/main" val="470313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in Python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Slides by Dr. </a:t>
            </a:r>
            <a:r>
              <a:rPr lang="en-US" dirty="0" err="1"/>
              <a:t>Sifat</a:t>
            </a:r>
            <a:r>
              <a:rPr lang="en-US" dirty="0"/>
              <a:t> </a:t>
            </a:r>
            <a:r>
              <a:rPr lang="en-US" dirty="0" err="1"/>
              <a:t>Momen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38200" y="1810512"/>
            <a:ext cx="6833616" cy="23083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#Write a function in Python to return the largest number in the array</a:t>
            </a:r>
          </a:p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find_largest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):</a:t>
            </a:r>
          </a:p>
          <a:p>
            <a:r>
              <a:rPr lang="en-US" dirty="0"/>
              <a:t>    largest = </a:t>
            </a:r>
            <a:r>
              <a:rPr lang="en-US" dirty="0" err="1"/>
              <a:t>arr</a:t>
            </a:r>
            <a:r>
              <a:rPr lang="en-US" dirty="0"/>
              <a:t>[0]</a:t>
            </a:r>
          </a:p>
          <a:p>
            <a:r>
              <a:rPr lang="en-US" dirty="0"/>
              <a:t>    for </a:t>
            </a:r>
            <a:r>
              <a:rPr lang="en-US" dirty="0" err="1"/>
              <a:t>num</a:t>
            </a:r>
            <a:r>
              <a:rPr lang="en-US" dirty="0"/>
              <a:t> in </a:t>
            </a:r>
            <a:r>
              <a:rPr lang="en-US" dirty="0" err="1"/>
              <a:t>arr</a:t>
            </a:r>
            <a:r>
              <a:rPr lang="en-US" dirty="0"/>
              <a:t>:</a:t>
            </a:r>
          </a:p>
          <a:p>
            <a:r>
              <a:rPr lang="en-US" dirty="0"/>
              <a:t>        if </a:t>
            </a:r>
            <a:r>
              <a:rPr lang="en-US" dirty="0" err="1"/>
              <a:t>num</a:t>
            </a:r>
            <a:r>
              <a:rPr lang="en-US" dirty="0"/>
              <a:t> &gt; largest:</a:t>
            </a:r>
          </a:p>
          <a:p>
            <a:r>
              <a:rPr lang="en-US" dirty="0"/>
              <a:t>            largest = </a:t>
            </a:r>
            <a:r>
              <a:rPr lang="en-US" dirty="0" err="1"/>
              <a:t>num</a:t>
            </a:r>
            <a:endParaRPr lang="en-US" dirty="0"/>
          </a:p>
          <a:p>
            <a:r>
              <a:rPr lang="en-US" dirty="0"/>
              <a:t>    return largest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38200" y="4407408"/>
            <a:ext cx="7510272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 It is possible to create arrays in different ways. One of the ways is using a list</a:t>
            </a:r>
          </a:p>
          <a:p>
            <a:r>
              <a:rPr lang="en-US" dirty="0"/>
              <a:t># Lists, in Python, are mutable -- meaning you can change their elements</a:t>
            </a:r>
          </a:p>
          <a:p>
            <a:r>
              <a:rPr lang="en-US" dirty="0" err="1"/>
              <a:t>myArray</a:t>
            </a:r>
            <a:r>
              <a:rPr lang="en-US" dirty="0"/>
              <a:t> = [1, 3, 7, 2, 4, 6, 2]</a:t>
            </a:r>
          </a:p>
          <a:p>
            <a:r>
              <a:rPr lang="en-US" dirty="0"/>
              <a:t>print(</a:t>
            </a:r>
            <a:r>
              <a:rPr lang="en-US" dirty="0" err="1"/>
              <a:t>find_largest</a:t>
            </a:r>
            <a:r>
              <a:rPr lang="en-US" dirty="0"/>
              <a:t>(</a:t>
            </a:r>
            <a:r>
              <a:rPr lang="en-US" dirty="0" err="1"/>
              <a:t>myArray</a:t>
            </a:r>
            <a:r>
              <a:rPr lang="en-US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15270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in Python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51560" y="1929384"/>
            <a:ext cx="93726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 Write a Python code to print the contents in an array and also print out the length of the array</a:t>
            </a:r>
          </a:p>
          <a:p>
            <a:r>
              <a:rPr lang="en-US" dirty="0"/>
              <a:t>for </a:t>
            </a:r>
            <a:r>
              <a:rPr lang="en-US" dirty="0" err="1"/>
              <a:t>num</a:t>
            </a:r>
            <a:r>
              <a:rPr lang="en-US" dirty="0"/>
              <a:t> in </a:t>
            </a:r>
            <a:r>
              <a:rPr lang="en-US" dirty="0" err="1"/>
              <a:t>myArray</a:t>
            </a:r>
            <a:r>
              <a:rPr lang="en-US" dirty="0"/>
              <a:t>:</a:t>
            </a:r>
          </a:p>
          <a:p>
            <a:r>
              <a:rPr lang="en-US" dirty="0"/>
              <a:t>    print(</a:t>
            </a:r>
            <a:r>
              <a:rPr lang="en-US" dirty="0" err="1"/>
              <a:t>num</a:t>
            </a:r>
            <a:r>
              <a:rPr lang="en-US" dirty="0"/>
              <a:t>)</a:t>
            </a:r>
          </a:p>
          <a:p>
            <a:r>
              <a:rPr lang="en-US" dirty="0"/>
              <a:t>print('Length of the array: ',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myArray</a:t>
            </a:r>
            <a:r>
              <a:rPr lang="en-US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249622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to remove duplicate items in an array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40698" y="2286000"/>
            <a:ext cx="3291840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remove_duplicates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):</a:t>
            </a:r>
          </a:p>
          <a:p>
            <a:r>
              <a:rPr lang="en-US" dirty="0"/>
              <a:t>    return list(set(</a:t>
            </a:r>
            <a:r>
              <a:rPr lang="en-US" dirty="0" err="1"/>
              <a:t>arr</a:t>
            </a:r>
            <a:r>
              <a:rPr lang="en-US" dirty="0"/>
              <a:t>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2286000"/>
            <a:ext cx="5779008" cy="258532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 Another way to do this is by using a for loop and an empty #list to keep track of the unique elements:</a:t>
            </a:r>
          </a:p>
          <a:p>
            <a:endParaRPr lang="en-US" dirty="0"/>
          </a:p>
          <a:p>
            <a:r>
              <a:rPr lang="en-US" dirty="0" err="1"/>
              <a:t>def</a:t>
            </a:r>
            <a:r>
              <a:rPr lang="en-US" dirty="0"/>
              <a:t> remove_duplicates2(</a:t>
            </a:r>
            <a:r>
              <a:rPr lang="en-US" dirty="0" err="1"/>
              <a:t>arr</a:t>
            </a:r>
            <a:r>
              <a:rPr lang="en-US" dirty="0"/>
              <a:t>):</a:t>
            </a:r>
          </a:p>
          <a:p>
            <a:r>
              <a:rPr lang="en-US" dirty="0"/>
              <a:t>    </a:t>
            </a:r>
            <a:r>
              <a:rPr lang="en-US" dirty="0" err="1"/>
              <a:t>unique_list</a:t>
            </a:r>
            <a:r>
              <a:rPr lang="en-US" dirty="0"/>
              <a:t> = []</a:t>
            </a:r>
          </a:p>
          <a:p>
            <a:r>
              <a:rPr lang="en-US" dirty="0"/>
              <a:t>    for item in </a:t>
            </a:r>
            <a:r>
              <a:rPr lang="en-US" dirty="0" err="1"/>
              <a:t>arr</a:t>
            </a:r>
            <a:r>
              <a:rPr lang="en-US" dirty="0"/>
              <a:t>:</a:t>
            </a:r>
          </a:p>
          <a:p>
            <a:r>
              <a:rPr lang="en-US" dirty="0"/>
              <a:t>        if item not in </a:t>
            </a:r>
            <a:r>
              <a:rPr lang="en-US" dirty="0" err="1"/>
              <a:t>unique_list</a:t>
            </a:r>
            <a:r>
              <a:rPr lang="en-US" dirty="0"/>
              <a:t>:</a:t>
            </a:r>
          </a:p>
          <a:p>
            <a:r>
              <a:rPr lang="en-US" dirty="0"/>
              <a:t>            </a:t>
            </a:r>
            <a:r>
              <a:rPr lang="en-US" dirty="0" err="1"/>
              <a:t>unique_list.append</a:t>
            </a:r>
            <a:r>
              <a:rPr lang="en-US" dirty="0"/>
              <a:t>(item)</a:t>
            </a:r>
          </a:p>
          <a:p>
            <a:r>
              <a:rPr lang="en-US" dirty="0"/>
              <a:t>    return </a:t>
            </a:r>
            <a:r>
              <a:rPr lang="en-US" dirty="0" err="1"/>
              <a:t>unique_list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349240" y="5568696"/>
            <a:ext cx="5084064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myArray</a:t>
            </a:r>
            <a:r>
              <a:rPr lang="en-US" dirty="0"/>
              <a:t> = remove_duplicates2(</a:t>
            </a:r>
            <a:r>
              <a:rPr lang="en-US" dirty="0" err="1"/>
              <a:t>myArray</a:t>
            </a:r>
            <a:r>
              <a:rPr lang="en-US" dirty="0"/>
              <a:t>)</a:t>
            </a:r>
          </a:p>
        </p:txBody>
      </p:sp>
      <p:cxnSp>
        <p:nvCxnSpPr>
          <p:cNvPr id="11" name="Straight Arrow Connector 10"/>
          <p:cNvCxnSpPr>
            <a:stCxn id="9" idx="0"/>
          </p:cNvCxnSpPr>
          <p:nvPr/>
        </p:nvCxnSpPr>
        <p:spPr>
          <a:xfrm flipH="1" flipV="1">
            <a:off x="7882128" y="4871323"/>
            <a:ext cx="9144" cy="6973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78408" y="4048026"/>
            <a:ext cx="4016421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 err="1"/>
              <a:t>myArray</a:t>
            </a:r>
            <a:r>
              <a:rPr lang="en-US" dirty="0"/>
              <a:t> = </a:t>
            </a:r>
            <a:r>
              <a:rPr lang="en-US" dirty="0" err="1"/>
              <a:t>remove_duplicates</a:t>
            </a:r>
            <a:r>
              <a:rPr lang="en-US" dirty="0"/>
              <a:t>(</a:t>
            </a:r>
            <a:r>
              <a:rPr lang="en-US" dirty="0" err="1"/>
              <a:t>myArray</a:t>
            </a:r>
            <a:r>
              <a:rPr lang="en-US" dirty="0"/>
              <a:t>)</a:t>
            </a:r>
          </a:p>
        </p:txBody>
      </p:sp>
      <p:cxnSp>
        <p:nvCxnSpPr>
          <p:cNvPr id="15" name="Straight Arrow Connector 14"/>
          <p:cNvCxnSpPr>
            <a:stCxn id="13" idx="0"/>
          </p:cNvCxnSpPr>
          <p:nvPr/>
        </p:nvCxnSpPr>
        <p:spPr>
          <a:xfrm flipH="1" flipV="1">
            <a:off x="2986618" y="2932331"/>
            <a:ext cx="1" cy="11156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840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to compute n!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38200" y="2441448"/>
            <a:ext cx="4325112" cy="17543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 Recursive Solution</a:t>
            </a:r>
          </a:p>
          <a:p>
            <a:r>
              <a:rPr lang="en-US" dirty="0" err="1"/>
              <a:t>def</a:t>
            </a:r>
            <a:r>
              <a:rPr lang="en-US" dirty="0"/>
              <a:t> factorial(n):</a:t>
            </a:r>
          </a:p>
          <a:p>
            <a:r>
              <a:rPr lang="en-US" dirty="0"/>
              <a:t>    if n == 0:</a:t>
            </a:r>
          </a:p>
          <a:p>
            <a:r>
              <a:rPr lang="en-US" dirty="0"/>
              <a:t>        return 1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return n * factorial(n-1)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2441448"/>
            <a:ext cx="4572000" cy="175432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 Here is an iterative solution</a:t>
            </a:r>
          </a:p>
          <a:p>
            <a:r>
              <a:rPr lang="en-US" dirty="0" err="1"/>
              <a:t>def</a:t>
            </a:r>
            <a:r>
              <a:rPr lang="en-US" dirty="0"/>
              <a:t> factorial2(n):</a:t>
            </a:r>
          </a:p>
          <a:p>
            <a:r>
              <a:rPr lang="en-US" dirty="0"/>
              <a:t>    result = 1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range(1,n+1):</a:t>
            </a:r>
          </a:p>
          <a:p>
            <a:r>
              <a:rPr lang="en-US" dirty="0"/>
              <a:t>        result *=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    return result</a:t>
            </a:r>
          </a:p>
        </p:txBody>
      </p:sp>
    </p:spTree>
    <p:extLst>
      <p:ext uri="{BB962C8B-B14F-4D97-AF65-F5344CB8AC3E}">
        <p14:creationId xmlns:p14="http://schemas.microsoft.com/office/powerpoint/2010/main" val="1258775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4383"/>
          </a:xfrm>
        </p:spPr>
        <p:txBody>
          <a:bodyPr/>
          <a:lstStyle/>
          <a:p>
            <a:r>
              <a:rPr lang="en-US" dirty="0"/>
              <a:t>Use help(range) or </a:t>
            </a:r>
            <a:r>
              <a:rPr lang="en-US" dirty="0" err="1"/>
              <a:t>dir</a:t>
            </a:r>
            <a:r>
              <a:rPr lang="en-US" dirty="0"/>
              <a:t>(range) to understand what it does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78408" y="2825496"/>
            <a:ext cx="3465576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 Let's explore the range function</a:t>
            </a:r>
          </a:p>
          <a:p>
            <a:r>
              <a:rPr lang="en-US" dirty="0"/>
              <a:t>x = range(1, 4)</a:t>
            </a:r>
          </a:p>
          <a:p>
            <a:r>
              <a:rPr lang="en-US" dirty="0"/>
              <a:t>for item in x:</a:t>
            </a:r>
          </a:p>
          <a:p>
            <a:r>
              <a:rPr lang="en-US" dirty="0"/>
              <a:t>    print(item)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7376" y="2958191"/>
            <a:ext cx="795528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4818888"/>
            <a:ext cx="7671816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 </a:t>
            </a:r>
            <a:r>
              <a:rPr lang="en-US" dirty="0" err="1"/>
              <a:t>rangeobject.count</a:t>
            </a:r>
            <a:r>
              <a:rPr lang="en-US" dirty="0"/>
              <a:t>(value) -&gt; integer -- return number of occurrences of value</a:t>
            </a:r>
          </a:p>
          <a:p>
            <a:r>
              <a:rPr lang="en-US" dirty="0"/>
              <a:t>print(</a:t>
            </a:r>
            <a:r>
              <a:rPr lang="en-US" dirty="0" err="1"/>
              <a:t>x.count</a:t>
            </a:r>
            <a:r>
              <a:rPr lang="en-US" dirty="0"/>
              <a:t>(1))</a:t>
            </a:r>
          </a:p>
          <a:p>
            <a:r>
              <a:rPr lang="en-US" dirty="0"/>
              <a:t>print(</a:t>
            </a:r>
            <a:r>
              <a:rPr lang="en-US" dirty="0" err="1"/>
              <a:t>x.count</a:t>
            </a:r>
            <a:r>
              <a:rPr lang="en-US" dirty="0"/>
              <a:t>(0))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19488" y="4818888"/>
            <a:ext cx="548640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40496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Function to compute the nth Fibonacci number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14400" y="2169575"/>
            <a:ext cx="4288536" cy="203132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fibonacci</a:t>
            </a:r>
            <a:r>
              <a:rPr lang="en-US" dirty="0"/>
              <a:t>(n):</a:t>
            </a:r>
          </a:p>
          <a:p>
            <a:r>
              <a:rPr lang="en-US" dirty="0"/>
              <a:t>    if n &lt;= 0:</a:t>
            </a:r>
          </a:p>
          <a:p>
            <a:r>
              <a:rPr lang="en-US" dirty="0"/>
              <a:t>        return 0</a:t>
            </a:r>
          </a:p>
          <a:p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n == 1:</a:t>
            </a:r>
          </a:p>
          <a:p>
            <a:r>
              <a:rPr lang="en-US" dirty="0"/>
              <a:t>        return 1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return </a:t>
            </a:r>
            <a:r>
              <a:rPr lang="en-US" dirty="0" err="1"/>
              <a:t>fibonacci</a:t>
            </a:r>
            <a:r>
              <a:rPr lang="en-US" dirty="0"/>
              <a:t>(n-1) + </a:t>
            </a:r>
            <a:r>
              <a:rPr lang="en-US" dirty="0" err="1"/>
              <a:t>fibonacci</a:t>
            </a:r>
            <a:r>
              <a:rPr lang="en-US" dirty="0"/>
              <a:t>(n-2)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2862072"/>
            <a:ext cx="4498848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x = range(1, 6)</a:t>
            </a:r>
          </a:p>
          <a:p>
            <a:r>
              <a:rPr lang="en-US" dirty="0"/>
              <a:t>for item in x: </a:t>
            </a:r>
          </a:p>
          <a:p>
            <a:r>
              <a:rPr lang="en-US" dirty="0"/>
              <a:t>    print("fib(", item, ") = ", </a:t>
            </a:r>
            <a:r>
              <a:rPr lang="en-US" dirty="0" err="1"/>
              <a:t>fibonacci</a:t>
            </a:r>
            <a:r>
              <a:rPr lang="en-US" dirty="0"/>
              <a:t>(item))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560320"/>
            <a:ext cx="2221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will be printed?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6976" y="4754880"/>
            <a:ext cx="4041648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From CSE 373, recall that this is an exponential time algorithm</a:t>
            </a:r>
          </a:p>
        </p:txBody>
      </p:sp>
    </p:spTree>
    <p:extLst>
      <p:ext uri="{BB962C8B-B14F-4D97-AF65-F5344CB8AC3E}">
        <p14:creationId xmlns:p14="http://schemas.microsoft.com/office/powerpoint/2010/main" val="1386445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Efficient DP (bottom up) solution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60704" y="2304288"/>
            <a:ext cx="5440680" cy="34163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 Here's the code that utilizes DP (bottom up approach)</a:t>
            </a:r>
          </a:p>
          <a:p>
            <a:r>
              <a:rPr lang="en-US" dirty="0" err="1"/>
              <a:t>def</a:t>
            </a:r>
            <a:r>
              <a:rPr lang="en-US" dirty="0"/>
              <a:t> fibonacci2(n):</a:t>
            </a:r>
          </a:p>
          <a:p>
            <a:r>
              <a:rPr lang="en-US" dirty="0"/>
              <a:t>    if n &lt;= 0:</a:t>
            </a:r>
          </a:p>
          <a:p>
            <a:r>
              <a:rPr lang="en-US" dirty="0"/>
              <a:t>        return 0</a:t>
            </a:r>
          </a:p>
          <a:p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n == 1:</a:t>
            </a:r>
          </a:p>
          <a:p>
            <a:r>
              <a:rPr lang="en-US" dirty="0"/>
              <a:t>        return 1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fib = [0]*(n+1)</a:t>
            </a:r>
          </a:p>
          <a:p>
            <a:r>
              <a:rPr lang="en-US" dirty="0"/>
              <a:t>        fib[1] = 1</a:t>
            </a:r>
          </a:p>
          <a:p>
            <a:r>
              <a:rPr lang="en-US" dirty="0"/>
              <a:t>        for </a:t>
            </a:r>
            <a:r>
              <a:rPr lang="en-US" dirty="0" err="1"/>
              <a:t>i</a:t>
            </a:r>
            <a:r>
              <a:rPr lang="en-US" dirty="0"/>
              <a:t> in range(2, n+1):</a:t>
            </a:r>
          </a:p>
          <a:p>
            <a:r>
              <a:rPr lang="en-US" dirty="0"/>
              <a:t>            fib[</a:t>
            </a:r>
            <a:r>
              <a:rPr lang="en-US" dirty="0" err="1"/>
              <a:t>i</a:t>
            </a:r>
            <a:r>
              <a:rPr lang="en-US" dirty="0"/>
              <a:t>] = fib[i-1] + fib[i-2]</a:t>
            </a:r>
          </a:p>
          <a:p>
            <a:r>
              <a:rPr lang="en-US" dirty="0"/>
              <a:t>        return fib[n]</a:t>
            </a:r>
          </a:p>
        </p:txBody>
      </p:sp>
    </p:spTree>
    <p:extLst>
      <p:ext uri="{BB962C8B-B14F-4D97-AF65-F5344CB8AC3E}">
        <p14:creationId xmlns:p14="http://schemas.microsoft.com/office/powerpoint/2010/main" val="1465652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sort an Array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69264" y="1837944"/>
            <a:ext cx="4306824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reverse_sort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):</a:t>
            </a:r>
          </a:p>
          <a:p>
            <a:r>
              <a:rPr lang="en-US" dirty="0"/>
              <a:t>    return sorted(</a:t>
            </a:r>
            <a:r>
              <a:rPr lang="en-US" dirty="0" err="1"/>
              <a:t>arr</a:t>
            </a:r>
            <a:r>
              <a:rPr lang="en-US" dirty="0"/>
              <a:t>, reverse=True)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767328"/>
            <a:ext cx="7004304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def</a:t>
            </a:r>
            <a:r>
              <a:rPr lang="en-US" dirty="0"/>
              <a:t> reverse_sort2(</a:t>
            </a:r>
            <a:r>
              <a:rPr lang="en-US" dirty="0" err="1"/>
              <a:t>arr</a:t>
            </a:r>
            <a:r>
              <a:rPr lang="en-US" dirty="0"/>
              <a:t>):</a:t>
            </a:r>
          </a:p>
          <a:p>
            <a:r>
              <a:rPr lang="en-US" dirty="0"/>
              <a:t>    </a:t>
            </a:r>
            <a:r>
              <a:rPr lang="en-US" dirty="0" err="1"/>
              <a:t>arr.sort</a:t>
            </a:r>
            <a:r>
              <a:rPr lang="en-US" dirty="0"/>
              <a:t>(reverse=True) # this function sorts the given array in place</a:t>
            </a:r>
          </a:p>
          <a:p>
            <a:r>
              <a:rPr lang="en-US" dirty="0"/>
              <a:t>    return </a:t>
            </a:r>
            <a:r>
              <a:rPr lang="en-US" dirty="0" err="1"/>
              <a:t>arr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049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Implementation in Python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Slides by Dr. </a:t>
            </a:r>
            <a:r>
              <a:rPr lang="en-US" dirty="0" err="1"/>
              <a:t>Sifat</a:t>
            </a:r>
            <a:r>
              <a:rPr lang="en-US" dirty="0"/>
              <a:t> </a:t>
            </a:r>
            <a:r>
              <a:rPr lang="en-US" dirty="0" err="1"/>
              <a:t>Momen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14</a:t>
            </a:fld>
            <a:endParaRPr lang="en-US"/>
          </a:p>
        </p:txBody>
      </p:sp>
      <p:pic>
        <p:nvPicPr>
          <p:cNvPr id="1028" name="Picture 4" descr="Insertion sort analysis. There are different algorithms out… | by Eranga  Dulshan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27" y="1690688"/>
            <a:ext cx="6556121" cy="272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333488" y="1783080"/>
            <a:ext cx="4020312" cy="258532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insertion_sort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):</a:t>
            </a:r>
          </a:p>
          <a:p>
            <a:r>
              <a:rPr lang="en-US" dirty="0"/>
              <a:t>    for j in range(1,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)):</a:t>
            </a:r>
          </a:p>
          <a:p>
            <a:r>
              <a:rPr lang="en-US" dirty="0"/>
              <a:t>        key = </a:t>
            </a:r>
            <a:r>
              <a:rPr lang="en-US" dirty="0" err="1"/>
              <a:t>arr</a:t>
            </a:r>
            <a:r>
              <a:rPr lang="en-US" dirty="0"/>
              <a:t>[j]</a:t>
            </a:r>
          </a:p>
          <a:p>
            <a:r>
              <a:rPr lang="en-US" dirty="0"/>
              <a:t>        </a:t>
            </a:r>
            <a:r>
              <a:rPr lang="en-US" dirty="0" err="1"/>
              <a:t>i</a:t>
            </a:r>
            <a:r>
              <a:rPr lang="en-US" dirty="0"/>
              <a:t> = j-1</a:t>
            </a:r>
          </a:p>
          <a:p>
            <a:r>
              <a:rPr lang="en-US" dirty="0"/>
              <a:t>        while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&gt; key and </a:t>
            </a:r>
            <a:r>
              <a:rPr lang="en-US" dirty="0" err="1"/>
              <a:t>i</a:t>
            </a:r>
            <a:r>
              <a:rPr lang="en-US" dirty="0"/>
              <a:t> &gt; -1 :</a:t>
            </a:r>
          </a:p>
          <a:p>
            <a:r>
              <a:rPr lang="en-US" dirty="0"/>
              <a:t>        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 + 1] 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r>
              <a:rPr lang="en-US" dirty="0"/>
              <a:t>            </a:t>
            </a:r>
            <a:r>
              <a:rPr lang="en-US" dirty="0" err="1"/>
              <a:t>i</a:t>
            </a:r>
            <a:r>
              <a:rPr lang="en-US" dirty="0"/>
              <a:t> -= 1</a:t>
            </a:r>
          </a:p>
          <a:p>
            <a:r>
              <a:rPr lang="en-US" dirty="0"/>
              <a:t>    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 + 1] = key</a:t>
            </a:r>
          </a:p>
          <a:p>
            <a:r>
              <a:rPr lang="en-US" dirty="0"/>
              <a:t>    return </a:t>
            </a:r>
            <a:r>
              <a:rPr lang="en-US" dirty="0" err="1"/>
              <a:t>arr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967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Zip Function in Python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58368" y="1892808"/>
            <a:ext cx="4700016" cy="202082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list1 = [1, 2, 3]</a:t>
            </a:r>
          </a:p>
          <a:p>
            <a:r>
              <a:rPr lang="en-US" dirty="0"/>
              <a:t>list2 = [4, 5, 6]</a:t>
            </a:r>
          </a:p>
          <a:p>
            <a:r>
              <a:rPr lang="en-US" dirty="0"/>
              <a:t>list3 = [7, 8, 9]</a:t>
            </a:r>
          </a:p>
          <a:p>
            <a:endParaRPr lang="en-US" dirty="0"/>
          </a:p>
          <a:p>
            <a:r>
              <a:rPr lang="en-US" dirty="0"/>
              <a:t>zipped = zip(list1, list2, list3)</a:t>
            </a:r>
          </a:p>
          <a:p>
            <a:endParaRPr lang="en-US" dirty="0"/>
          </a:p>
          <a:p>
            <a:r>
              <a:rPr lang="en-US" dirty="0"/>
              <a:t>print(list(zipped))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8" y="2533888"/>
            <a:ext cx="3136392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[(1, 4, 7), (2, 5, 8), (3, 6,9)]</a:t>
            </a:r>
          </a:p>
        </p:txBody>
      </p:sp>
    </p:spTree>
    <p:extLst>
      <p:ext uri="{BB962C8B-B14F-4D97-AF65-F5344CB8AC3E}">
        <p14:creationId xmlns:p14="http://schemas.microsoft.com/office/powerpoint/2010/main" val="427442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Zip function in Python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32688" y="2203704"/>
            <a:ext cx="4800600" cy="17543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list1 = [1, 2, 3]</a:t>
            </a:r>
          </a:p>
          <a:p>
            <a:r>
              <a:rPr lang="en-US" dirty="0"/>
              <a:t>list2 = [4, 5, 6]</a:t>
            </a:r>
          </a:p>
          <a:p>
            <a:r>
              <a:rPr lang="en-US" dirty="0"/>
              <a:t>list3 = [7, 8, 9]</a:t>
            </a:r>
          </a:p>
          <a:p>
            <a:endParaRPr lang="en-US" dirty="0"/>
          </a:p>
          <a:p>
            <a:r>
              <a:rPr lang="en-US" dirty="0"/>
              <a:t>for a, b, c in zip(list1, list2, list3):</a:t>
            </a:r>
          </a:p>
          <a:p>
            <a:r>
              <a:rPr lang="en-US" dirty="0"/>
              <a:t>    print(a, b, c)</a:t>
            </a:r>
          </a:p>
        </p:txBody>
      </p:sp>
    </p:spTree>
    <p:extLst>
      <p:ext uri="{BB962C8B-B14F-4D97-AF65-F5344CB8AC3E}">
        <p14:creationId xmlns:p14="http://schemas.microsoft.com/office/powerpoint/2010/main" val="3444824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and Objects in Python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17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24128" y="2002536"/>
            <a:ext cx="5349240" cy="23083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class Bird:</a:t>
            </a:r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__</a:t>
            </a:r>
            <a:r>
              <a:rPr lang="en-US" dirty="0" err="1"/>
              <a:t>init</a:t>
            </a:r>
            <a:r>
              <a:rPr lang="en-US" dirty="0"/>
              <a:t>__(self):</a:t>
            </a:r>
          </a:p>
          <a:p>
            <a:r>
              <a:rPr lang="en-US" dirty="0"/>
              <a:t>        </a:t>
            </a:r>
            <a:r>
              <a:rPr lang="en-US" dirty="0" err="1"/>
              <a:t>self.flying_speed</a:t>
            </a:r>
            <a:r>
              <a:rPr lang="en-US" dirty="0"/>
              <a:t> = 0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fly(self, speed):</a:t>
            </a:r>
          </a:p>
          <a:p>
            <a:r>
              <a:rPr lang="en-US" dirty="0"/>
              <a:t>        </a:t>
            </a:r>
            <a:r>
              <a:rPr lang="en-US" dirty="0" err="1"/>
              <a:t>self.flying_speed</a:t>
            </a:r>
            <a:r>
              <a:rPr lang="en-US" dirty="0"/>
              <a:t> = speed</a:t>
            </a:r>
          </a:p>
          <a:p>
            <a:r>
              <a:rPr lang="en-US" dirty="0"/>
              <a:t>        print("Flying at {} km/</a:t>
            </a:r>
            <a:r>
              <a:rPr lang="en-US" dirty="0" err="1"/>
              <a:t>h".format</a:t>
            </a:r>
            <a:r>
              <a:rPr lang="en-US" dirty="0"/>
              <a:t>(speed))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711696" y="2459736"/>
            <a:ext cx="2039112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 Class called </a:t>
            </a:r>
            <a:r>
              <a:rPr lang="en-US" b="1" dirty="0"/>
              <a:t>Bird</a:t>
            </a:r>
            <a:r>
              <a:rPr lang="en-US" dirty="0"/>
              <a:t> in Python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94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Subclass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42416" y="2048256"/>
            <a:ext cx="2020824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class Hawk(Bird):</a:t>
            </a:r>
          </a:p>
          <a:p>
            <a:r>
              <a:rPr lang="en-US" dirty="0"/>
              <a:t>   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2" y="1938528"/>
            <a:ext cx="6007608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Here’s a subclass called </a:t>
            </a:r>
            <a:r>
              <a:rPr lang="en-US" b="1" dirty="0"/>
              <a:t>Hawk</a:t>
            </a:r>
            <a:r>
              <a:rPr lang="en-US" dirty="0"/>
              <a:t> that inherits from the superclass </a:t>
            </a:r>
            <a:r>
              <a:rPr lang="en-US" b="1" dirty="0"/>
              <a:t>Bird</a:t>
            </a:r>
            <a:r>
              <a:rPr lang="en-US" dirty="0"/>
              <a:t> but does not have any additional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264408"/>
            <a:ext cx="5989320" cy="23083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class Hawk(Bird):</a:t>
            </a:r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__</a:t>
            </a:r>
            <a:r>
              <a:rPr lang="en-US" dirty="0" err="1"/>
              <a:t>init</a:t>
            </a:r>
            <a:r>
              <a:rPr lang="en-US" dirty="0"/>
              <a:t>__(self):</a:t>
            </a:r>
          </a:p>
          <a:p>
            <a:r>
              <a:rPr lang="en-US" dirty="0"/>
              <a:t>        Bird.__</a:t>
            </a:r>
            <a:r>
              <a:rPr lang="en-US" dirty="0" err="1"/>
              <a:t>init</a:t>
            </a:r>
            <a:r>
              <a:rPr lang="en-US" dirty="0"/>
              <a:t>__(self)</a:t>
            </a:r>
          </a:p>
          <a:p>
            <a:r>
              <a:rPr lang="en-US" dirty="0"/>
              <a:t>        </a:t>
            </a:r>
            <a:r>
              <a:rPr lang="en-US" dirty="0" err="1"/>
              <a:t>self.vision_distance</a:t>
            </a:r>
            <a:r>
              <a:rPr lang="en-US" dirty="0"/>
              <a:t> = 0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set_vision_distance</a:t>
            </a:r>
            <a:r>
              <a:rPr lang="en-US" dirty="0"/>
              <a:t>(self, distance):</a:t>
            </a:r>
          </a:p>
          <a:p>
            <a:r>
              <a:rPr lang="en-US" dirty="0"/>
              <a:t>        </a:t>
            </a:r>
            <a:r>
              <a:rPr lang="en-US" dirty="0" err="1"/>
              <a:t>self.vision_distance</a:t>
            </a:r>
            <a:r>
              <a:rPr lang="en-US" dirty="0"/>
              <a:t> = distance</a:t>
            </a:r>
          </a:p>
          <a:p>
            <a:r>
              <a:rPr lang="en-US" dirty="0"/>
              <a:t>        print("Hawk can see up to {} km </a:t>
            </a:r>
            <a:r>
              <a:rPr lang="en-US" dirty="0" err="1"/>
              <a:t>away".format</a:t>
            </a:r>
            <a:r>
              <a:rPr lang="en-US" dirty="0"/>
              <a:t>(distance))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2612" y="4095404"/>
            <a:ext cx="4695444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Here’s a subclass called </a:t>
            </a:r>
            <a:r>
              <a:rPr lang="en-US" b="1" dirty="0"/>
              <a:t>Hawk</a:t>
            </a:r>
            <a:r>
              <a:rPr lang="en-US" dirty="0"/>
              <a:t> that inherits from the superclass </a:t>
            </a:r>
            <a:r>
              <a:rPr lang="en-US" b="1" dirty="0"/>
              <a:t>Bird</a:t>
            </a:r>
            <a:r>
              <a:rPr lang="en-US" dirty="0"/>
              <a:t> and have additional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2189437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87552" y="1920240"/>
            <a:ext cx="7918704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 Let's create an object of the Hawk class and call all its methods</a:t>
            </a:r>
          </a:p>
          <a:p>
            <a:endParaRPr lang="en-US" dirty="0"/>
          </a:p>
          <a:p>
            <a:r>
              <a:rPr lang="en-US" dirty="0"/>
              <a:t>hawk = Hawk()</a:t>
            </a:r>
          </a:p>
          <a:p>
            <a:r>
              <a:rPr lang="en-US" dirty="0" err="1"/>
              <a:t>hawk.fly</a:t>
            </a:r>
            <a:r>
              <a:rPr lang="en-US" dirty="0"/>
              <a:t>(50) # prints "Flying at 50 km/h"</a:t>
            </a:r>
          </a:p>
          <a:p>
            <a:r>
              <a:rPr lang="en-US" dirty="0" err="1"/>
              <a:t>hawk.set_vision_distance</a:t>
            </a:r>
            <a:r>
              <a:rPr lang="en-US" dirty="0"/>
              <a:t>(2) # prints "Hawk can see up to 2 km away"</a:t>
            </a:r>
          </a:p>
        </p:txBody>
      </p:sp>
    </p:spTree>
    <p:extLst>
      <p:ext uri="{BB962C8B-B14F-4D97-AF65-F5344CB8AC3E}">
        <p14:creationId xmlns:p14="http://schemas.microsoft.com/office/powerpoint/2010/main" val="2751127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Inheritance in Python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34440" y="2532888"/>
            <a:ext cx="7205472" cy="313932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class Parent1:</a:t>
            </a:r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method1(self):</a:t>
            </a:r>
          </a:p>
          <a:p>
            <a:r>
              <a:rPr lang="en-US" dirty="0"/>
              <a:t>        print("Method 1 of Parent 1")</a:t>
            </a:r>
          </a:p>
          <a:p>
            <a:endParaRPr lang="en-US" dirty="0"/>
          </a:p>
          <a:p>
            <a:r>
              <a:rPr lang="en-US" dirty="0"/>
              <a:t>class Parent2:</a:t>
            </a:r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method2(self):</a:t>
            </a:r>
          </a:p>
          <a:p>
            <a:r>
              <a:rPr lang="en-US" dirty="0"/>
              <a:t>        print("Method 2 of Parent 2")</a:t>
            </a:r>
          </a:p>
          <a:p>
            <a:endParaRPr lang="en-US" dirty="0"/>
          </a:p>
          <a:p>
            <a:r>
              <a:rPr lang="en-US" dirty="0"/>
              <a:t>class Child(Parent1, Parent2):</a:t>
            </a:r>
          </a:p>
          <a:p>
            <a:r>
              <a:rPr lang="en-US" dirty="0"/>
              <a:t>    pass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944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Comprehension in Python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21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78408" y="1929384"/>
            <a:ext cx="5669280" cy="147732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#Create a list with numbers from 0 to 99 in it</a:t>
            </a:r>
          </a:p>
          <a:p>
            <a:r>
              <a:rPr lang="en-US" dirty="0"/>
              <a:t>ls1 = []</a:t>
            </a:r>
          </a:p>
          <a:p>
            <a:r>
              <a:rPr lang="en-US" dirty="0"/>
              <a:t>for item in range(100):</a:t>
            </a:r>
          </a:p>
          <a:p>
            <a:r>
              <a:rPr lang="en-US" dirty="0"/>
              <a:t>    ls1.append(item)</a:t>
            </a:r>
          </a:p>
          <a:p>
            <a:r>
              <a:rPr lang="en-US" dirty="0"/>
              <a:t>print(ls1)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4480560"/>
            <a:ext cx="544068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ls2 = [item for item in range(100)]</a:t>
            </a:r>
          </a:p>
          <a:p>
            <a:r>
              <a:rPr lang="en-US" dirty="0"/>
              <a:t>print(ls2)</a:t>
            </a:r>
          </a:p>
        </p:txBody>
      </p:sp>
    </p:spTree>
    <p:extLst>
      <p:ext uri="{BB962C8B-B14F-4D97-AF65-F5344CB8AC3E}">
        <p14:creationId xmlns:p14="http://schemas.microsoft.com/office/powerpoint/2010/main" val="3059254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Comprehension in Python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22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24128" y="1865376"/>
            <a:ext cx="5422392" cy="17543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 Create another list containing odd numbers from ls1</a:t>
            </a:r>
          </a:p>
          <a:p>
            <a:r>
              <a:rPr lang="en-US" dirty="0" err="1"/>
              <a:t>oddList</a:t>
            </a:r>
            <a:r>
              <a:rPr lang="en-US" dirty="0"/>
              <a:t> = []</a:t>
            </a:r>
          </a:p>
          <a:p>
            <a:r>
              <a:rPr lang="en-US" dirty="0"/>
              <a:t>for x in range(100):</a:t>
            </a:r>
          </a:p>
          <a:p>
            <a:r>
              <a:rPr lang="en-US" dirty="0"/>
              <a:t>    if(x%2==1):</a:t>
            </a:r>
          </a:p>
          <a:p>
            <a:r>
              <a:rPr lang="en-US" dirty="0"/>
              <a:t>        </a:t>
            </a:r>
            <a:r>
              <a:rPr lang="en-US" dirty="0" err="1"/>
              <a:t>oddList.append</a:t>
            </a:r>
            <a:r>
              <a:rPr lang="en-US" dirty="0"/>
              <a:t>(x)</a:t>
            </a:r>
          </a:p>
          <a:p>
            <a:r>
              <a:rPr lang="en-US" dirty="0"/>
              <a:t>print(</a:t>
            </a:r>
            <a:r>
              <a:rPr lang="en-US" dirty="0" err="1"/>
              <a:t>oddList</a:t>
            </a:r>
            <a:r>
              <a:rPr lang="en-US"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4251960"/>
            <a:ext cx="4956048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 Do the same using List Comprehension</a:t>
            </a:r>
          </a:p>
          <a:p>
            <a:r>
              <a:rPr lang="en-US" dirty="0" err="1"/>
              <a:t>myoddList</a:t>
            </a:r>
            <a:r>
              <a:rPr lang="en-US" dirty="0"/>
              <a:t> = [x for x in range(100) if(x%2==1)]</a:t>
            </a:r>
          </a:p>
          <a:p>
            <a:r>
              <a:rPr lang="en-US" dirty="0"/>
              <a:t>print(</a:t>
            </a:r>
            <a:r>
              <a:rPr lang="en-US" dirty="0" err="1"/>
              <a:t>myoddList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286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Comprehension in Python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23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38200" y="2057400"/>
            <a:ext cx="3048000" cy="20313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 = [1, 2, 3, 4]</a:t>
            </a:r>
          </a:p>
          <a:p>
            <a:r>
              <a:rPr lang="en-US" dirty="0"/>
              <a:t>b = ["a", "b", "c", "d"]</a:t>
            </a:r>
          </a:p>
          <a:p>
            <a:r>
              <a:rPr lang="en-US" dirty="0"/>
              <a:t>c = []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a:</a:t>
            </a:r>
          </a:p>
          <a:p>
            <a:r>
              <a:rPr lang="en-US" dirty="0"/>
              <a:t>    for j in b:</a:t>
            </a:r>
          </a:p>
          <a:p>
            <a:r>
              <a:rPr lang="en-US" dirty="0"/>
              <a:t>      </a:t>
            </a:r>
            <a:r>
              <a:rPr lang="en-US" dirty="0" err="1"/>
              <a:t>c.append</a:t>
            </a:r>
            <a:r>
              <a:rPr lang="en-US" dirty="0"/>
              <a:t>((</a:t>
            </a:r>
            <a:r>
              <a:rPr lang="en-US" dirty="0" err="1"/>
              <a:t>i</a:t>
            </a:r>
            <a:r>
              <a:rPr lang="en-US" dirty="0"/>
              <a:t> , j)) </a:t>
            </a:r>
          </a:p>
          <a:p>
            <a:r>
              <a:rPr lang="en-US" dirty="0"/>
              <a:t>print(c)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4416" y="2057400"/>
            <a:ext cx="3127248" cy="147732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 = [1, 2, 3, 4]</a:t>
            </a:r>
          </a:p>
          <a:p>
            <a:r>
              <a:rPr lang="en-US" dirty="0"/>
              <a:t>b = ["a", "b", "c", "d"]</a:t>
            </a:r>
          </a:p>
          <a:p>
            <a:r>
              <a:rPr lang="en-US" dirty="0"/>
              <a:t>c = []</a:t>
            </a:r>
          </a:p>
          <a:p>
            <a:r>
              <a:rPr lang="en-US" dirty="0"/>
              <a:t>c = [(</a:t>
            </a:r>
            <a:r>
              <a:rPr lang="en-US" dirty="0" err="1"/>
              <a:t>i</a:t>
            </a:r>
            <a:r>
              <a:rPr lang="en-US" dirty="0"/>
              <a:t>, j) for </a:t>
            </a:r>
            <a:r>
              <a:rPr lang="en-US" dirty="0" err="1"/>
              <a:t>i</a:t>
            </a:r>
            <a:r>
              <a:rPr lang="en-US" dirty="0"/>
              <a:t> in a for j in b]</a:t>
            </a:r>
          </a:p>
          <a:p>
            <a:r>
              <a:rPr lang="en-US" dirty="0"/>
              <a:t>print(c)</a:t>
            </a:r>
          </a:p>
        </p:txBody>
      </p:sp>
    </p:spTree>
    <p:extLst>
      <p:ext uri="{BB962C8B-B14F-4D97-AF65-F5344CB8AC3E}">
        <p14:creationId xmlns:p14="http://schemas.microsoft.com/office/powerpoint/2010/main" val="502542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Slicing in Python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24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32688" y="1362456"/>
            <a:ext cx="4178808" cy="48013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# Initialize list</a:t>
            </a:r>
          </a:p>
          <a:p>
            <a:r>
              <a:rPr lang="en-US" dirty="0"/>
              <a:t>List = [1, 2, 3, 4, 5, 6, 7, 8, 9]</a:t>
            </a:r>
          </a:p>
          <a:p>
            <a:endParaRPr lang="en-US" dirty="0"/>
          </a:p>
          <a:p>
            <a:r>
              <a:rPr lang="en-US" dirty="0"/>
              <a:t># Show original list</a:t>
            </a:r>
          </a:p>
          <a:p>
            <a:r>
              <a:rPr lang="en-US" dirty="0"/>
              <a:t>print("\</a:t>
            </a:r>
            <a:r>
              <a:rPr lang="en-US" dirty="0" err="1"/>
              <a:t>nOriginal</a:t>
            </a:r>
            <a:r>
              <a:rPr lang="en-US" dirty="0"/>
              <a:t> List:\n", List)</a:t>
            </a:r>
          </a:p>
          <a:p>
            <a:endParaRPr lang="en-US" dirty="0"/>
          </a:p>
          <a:p>
            <a:r>
              <a:rPr lang="en-US" dirty="0"/>
              <a:t>print("\</a:t>
            </a:r>
            <a:r>
              <a:rPr lang="en-US" dirty="0" err="1"/>
              <a:t>nSliced</a:t>
            </a:r>
            <a:r>
              <a:rPr lang="en-US" dirty="0"/>
              <a:t> Lists: ")</a:t>
            </a:r>
          </a:p>
          <a:p>
            <a:endParaRPr lang="en-US" dirty="0"/>
          </a:p>
          <a:p>
            <a:r>
              <a:rPr lang="en-US" dirty="0"/>
              <a:t># Display sliced list</a:t>
            </a:r>
          </a:p>
          <a:p>
            <a:r>
              <a:rPr lang="en-US" dirty="0"/>
              <a:t>print(List[3:9:2])</a:t>
            </a:r>
          </a:p>
          <a:p>
            <a:endParaRPr lang="en-US" dirty="0"/>
          </a:p>
          <a:p>
            <a:r>
              <a:rPr lang="en-US" dirty="0"/>
              <a:t># Display sliced list</a:t>
            </a:r>
          </a:p>
          <a:p>
            <a:r>
              <a:rPr lang="en-US" dirty="0"/>
              <a:t>print(List[::2])</a:t>
            </a:r>
          </a:p>
          <a:p>
            <a:endParaRPr lang="en-US" dirty="0"/>
          </a:p>
          <a:p>
            <a:r>
              <a:rPr lang="en-US" dirty="0"/>
              <a:t># Display sliced list</a:t>
            </a:r>
          </a:p>
          <a:p>
            <a:r>
              <a:rPr lang="en-US" dirty="0"/>
              <a:t>print(List[::])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172200" y="2157984"/>
            <a:ext cx="4718304" cy="20313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Original List:</a:t>
            </a:r>
          </a:p>
          <a:p>
            <a:r>
              <a:rPr lang="en-US" dirty="0"/>
              <a:t> [1, 2, 3, 4, 5, 6, 7, 8, 9]</a:t>
            </a:r>
          </a:p>
          <a:p>
            <a:endParaRPr lang="en-US" dirty="0"/>
          </a:p>
          <a:p>
            <a:r>
              <a:rPr lang="en-US" dirty="0"/>
              <a:t>Sliced Lists: </a:t>
            </a:r>
          </a:p>
          <a:p>
            <a:r>
              <a:rPr lang="en-US" dirty="0"/>
              <a:t>[4, 6, 8]</a:t>
            </a:r>
          </a:p>
          <a:p>
            <a:r>
              <a:rPr lang="en-US" dirty="0"/>
              <a:t>[1, 3, 5, 7, 9]</a:t>
            </a:r>
          </a:p>
          <a:p>
            <a:r>
              <a:rPr lang="en-US" dirty="0"/>
              <a:t>[1, 2, 3, 4, 5, 6, 7, 8, 9]</a:t>
            </a:r>
          </a:p>
        </p:txBody>
      </p:sp>
    </p:spTree>
    <p:extLst>
      <p:ext uri="{BB962C8B-B14F-4D97-AF65-F5344CB8AC3E}">
        <p14:creationId xmlns:p14="http://schemas.microsoft.com/office/powerpoint/2010/main" val="367797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1854</Words>
  <Application>Microsoft Office PowerPoint</Application>
  <PresentationFormat>Widescreen</PresentationFormat>
  <Paragraphs>312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Python Primer</vt:lpstr>
      <vt:lpstr>Learning goals</vt:lpstr>
      <vt:lpstr>Jupyter Notebook</vt:lpstr>
      <vt:lpstr>Hello World</vt:lpstr>
      <vt:lpstr>Simple Arithmetic Computation</vt:lpstr>
      <vt:lpstr>Functions in Python</vt:lpstr>
      <vt:lpstr>Functions in Python</vt:lpstr>
      <vt:lpstr>Function to remove duplicate items in an array</vt:lpstr>
      <vt:lpstr>Function to compute n! </vt:lpstr>
      <vt:lpstr>Range</vt:lpstr>
      <vt:lpstr>Python Function to compute the nth Fibonacci number</vt:lpstr>
      <vt:lpstr>More Efficient DP (bottom up) solution</vt:lpstr>
      <vt:lpstr>Reverse sort an Array</vt:lpstr>
      <vt:lpstr>Insertion Sort Implementation in Python</vt:lpstr>
      <vt:lpstr>Zip Function in Python</vt:lpstr>
      <vt:lpstr>Zip function in Python</vt:lpstr>
      <vt:lpstr>Classes and Objects in Python</vt:lpstr>
      <vt:lpstr>Subclass</vt:lpstr>
      <vt:lpstr>Object</vt:lpstr>
      <vt:lpstr>Multiple Inheritance in Python</vt:lpstr>
      <vt:lpstr>List Comprehension in Python</vt:lpstr>
      <vt:lpstr>List Comprehension in Python</vt:lpstr>
      <vt:lpstr>List Comprehension in Python</vt:lpstr>
      <vt:lpstr>List Slicing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Machine Learning Landscape</dc:title>
  <dc:creator>ASUS</dc:creator>
  <cp:lastModifiedBy>Sifat</cp:lastModifiedBy>
  <cp:revision>50</cp:revision>
  <dcterms:created xsi:type="dcterms:W3CDTF">2023-01-12T11:50:09Z</dcterms:created>
  <dcterms:modified xsi:type="dcterms:W3CDTF">2026-03-10T03:20:08Z</dcterms:modified>
</cp:coreProperties>
</file>